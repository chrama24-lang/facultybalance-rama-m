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8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71" r:id="rId10"/>
    <p:sldId id="272" r:id="rId11"/>
    <p:sldId id="273" r:id="rId12"/>
    <p:sldId id="274" r:id="rId13"/>
    <p:sldId id="263" r:id="rId14"/>
    <p:sldId id="264" r:id="rId15"/>
    <p:sldId id="265" r:id="rId16"/>
    <p:sldId id="270" r:id="rId17"/>
    <p:sldId id="266" r:id="rId18"/>
  </p:sldIdLst>
  <p:sldSz cx="9144000" cy="5143500" type="screen16x9"/>
  <p:notesSz cx="5143500" cy="9144000"/>
  <p:custDataLst>
    <p:tags r:id="rId2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3FA"/>
    <a:srgbClr val="FDF3ED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ama Mokkarala" userId="4c375a3b0b3fb16c" providerId="LiveId" clId="{1231A1BB-169C-4ED4-BDD4-522A08B43434}"/>
    <pc:docChg chg="modSld">
      <pc:chgData name="Dr. Rama Mokkarala" userId="4c375a3b0b3fb16c" providerId="LiveId" clId="{1231A1BB-169C-4ED4-BDD4-522A08B43434}" dt="2026-04-28T13:26:55.523" v="40" actId="20577"/>
      <pc:docMkLst>
        <pc:docMk/>
      </pc:docMkLst>
      <pc:sldChg chg="modSp mod">
        <pc:chgData name="Dr. Rama Mokkarala" userId="4c375a3b0b3fb16c" providerId="LiveId" clId="{1231A1BB-169C-4ED4-BDD4-522A08B43434}" dt="2026-04-28T13:07:02.900" v="4" actId="20577"/>
        <pc:sldMkLst>
          <pc:docMk/>
          <pc:sldMk cId="0" sldId="264"/>
        </pc:sldMkLst>
        <pc:spChg chg="mod">
          <ac:chgData name="Dr. Rama Mokkarala" userId="4c375a3b0b3fb16c" providerId="LiveId" clId="{1231A1BB-169C-4ED4-BDD4-522A08B43434}" dt="2026-04-28T13:07:02.900" v="4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8T13:23:21.700" v="37" actId="20577"/>
        <pc:sldMkLst>
          <pc:docMk/>
          <pc:sldMk cId="0" sldId="265"/>
        </pc:sldMkLst>
        <pc:spChg chg="mod">
          <ac:chgData name="Dr. Rama Mokkarala" userId="4c375a3b0b3fb16c" providerId="LiveId" clId="{1231A1BB-169C-4ED4-BDD4-522A08B43434}" dt="2026-04-28T13:23:21.700" v="37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Dr. Rama Mokkarala" userId="4c375a3b0b3fb16c" providerId="LiveId" clId="{1231A1BB-169C-4ED4-BDD4-522A08B43434}" dt="2026-04-28T13:26:28.374" v="39" actId="403"/>
        <pc:sldMkLst>
          <pc:docMk/>
          <pc:sldMk cId="4116528430" sldId="270"/>
        </pc:sldMkLst>
        <pc:spChg chg="mod">
          <ac:chgData name="Dr. Rama Mokkarala" userId="4c375a3b0b3fb16c" providerId="LiveId" clId="{1231A1BB-169C-4ED4-BDD4-522A08B43434}" dt="2026-04-28T13:26:28.374" v="39" actId="403"/>
          <ac:spMkLst>
            <pc:docMk/>
            <pc:sldMk cId="4116528430" sldId="270"/>
            <ac:spMk id="2" creationId="{B38DDD0C-D924-4E39-B113-FE47EE864BE5}"/>
          </ac:spMkLst>
        </pc:spChg>
      </pc:sldChg>
      <pc:sldChg chg="modSp mod">
        <pc:chgData name="Dr. Rama Mokkarala" userId="4c375a3b0b3fb16c" providerId="LiveId" clId="{1231A1BB-169C-4ED4-BDD4-522A08B43434}" dt="2026-04-28T13:26:55.523" v="40" actId="20577"/>
        <pc:sldMkLst>
          <pc:docMk/>
          <pc:sldMk cId="2485970465" sldId="273"/>
        </pc:sldMkLst>
        <pc:spChg chg="mod">
          <ac:chgData name="Dr. Rama Mokkarala" userId="4c375a3b0b3fb16c" providerId="LiveId" clId="{1231A1BB-169C-4ED4-BDD4-522A08B43434}" dt="2026-04-28T13:26:55.523" v="40" actId="20577"/>
          <ac:spMkLst>
            <pc:docMk/>
            <pc:sldMk cId="2485970465" sldId="273"/>
            <ac:spMk id="7" creationId="{BE5B8597-0493-7ED8-9B67-A40D36E343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66BF-B9F5-9450-6B8E-27899FBB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15776-44D0-CE51-F604-18B892D25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A1032-A949-F583-B8B2-535C0BFF5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3F48F-0FCE-F226-86D0-1B26CC6F5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5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06D3-3A50-69A9-4AE0-79AEE04F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2EA1B-A9D3-5C33-5537-7A5065EF0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F29B6-C6A5-6BEE-835C-12B835ED0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A7460-B34F-37E1-ADDB-9965F757B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45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mon-sky-026fb701e.7.azurestaticapps.net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4.xml"/><Relationship Id="rId6" Type="http://schemas.openxmlformats.org/officeDocument/2006/relationships/image" Target="../media/image23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5229981" y="4314719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5183265" y="4491388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 Rama Mokkarala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736788" y="433131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858761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2798507" y="4461904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Chrama.24@gmail.com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392745" y="4323389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690292" y="4327017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63265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Ms.R</a:t>
              </a: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Uma Maheswari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207210" y="4342613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57080"/>
              </p:ext>
            </p:extLst>
          </p:nvPr>
        </p:nvGraphicFramePr>
        <p:xfrm>
          <a:off x="4663" y="3463064"/>
          <a:ext cx="5178601" cy="370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78601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 err="1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FacultyBalance</a:t>
                      </a:r>
                      <a:r>
                        <a:rPr lang="en-IN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-AI Assisted Faculty Time Allocation</a:t>
                      </a:r>
                      <a:endParaRPr lang="en-US" sz="1400" b="1" kern="1200" dirty="0">
                        <a:solidFill>
                          <a:srgbClr val="0D358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  <p:pic>
        <p:nvPicPr>
          <p:cNvPr id="2050" name="Picture 2" descr="Workload Balance Icon Represented By Task">
            <a:extLst>
              <a:ext uri="{FF2B5EF4-FFF2-40B4-BE49-F238E27FC236}">
                <a16:creationId xmlns:a16="http://schemas.microsoft.com/office/drawing/2014/main" id="{B7E2115E-56B5-32EE-10E3-5EC1FA689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42"/>
          <a:stretch>
            <a:fillRect/>
          </a:stretch>
        </p:blipFill>
        <p:spPr bwMode="auto">
          <a:xfrm>
            <a:off x="5319813" y="1507263"/>
            <a:ext cx="2128458" cy="204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831904" y="1034326"/>
            <a:ext cx="2415625" cy="27704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5240" y="4496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847986"/>
            <a:ext cx="64619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Develops a unified dataset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Quantifies Imbalances &amp; Proposes redistribution strategies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Technologies: </a:t>
            </a:r>
            <a:r>
              <a:rPr lang="en-US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+ Power BI + Copilot+ Azure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outcomes :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Unified and cleaned Dataset.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interactive Dashboard </a:t>
            </a:r>
          </a:p>
          <a:p>
            <a:pPr marL="228600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Highlights: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workload summaries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Fairer workload allocation 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departmental research capacity</a:t>
            </a:r>
            <a:r>
              <a:rPr lang="en-US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A7F08-F4B7-1F11-A9D3-D68C32F881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020"/>
          <a:stretch>
            <a:fillRect/>
          </a:stretch>
        </p:blipFill>
        <p:spPr>
          <a:xfrm>
            <a:off x="5883873" y="1170000"/>
            <a:ext cx="3149899" cy="26767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391830"/>
            <a:ext cx="8229600" cy="42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0623" y="894204"/>
            <a:ext cx="58674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Core </a:t>
            </a:r>
            <a:r>
              <a:rPr lang="en-US" b="1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b="1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roblem</a:t>
            </a: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IN" dirty="0"/>
              <a:t> 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Institutions lack a unified and data-driven mechanism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Significance of the problem</a:t>
            </a: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Reactive Administrative decisions taken increase the risk of burnout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Faculty Members of Higher Education Institutions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Web Based Models &amp; lack of AI assisted  Models</a:t>
            </a: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 algn="just"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Scope &amp; Boundaries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Real Time Data collection, visualization and AI assisted insights.</a:t>
            </a:r>
          </a:p>
        </p:txBody>
      </p:sp>
      <p:pic>
        <p:nvPicPr>
          <p:cNvPr id="1026" name="Picture 2" descr="teacher workload concept icon">
            <a:extLst>
              <a:ext uri="{FF2B5EF4-FFF2-40B4-BE49-F238E27FC236}">
                <a16:creationId xmlns:a16="http://schemas.microsoft.com/office/drawing/2014/main" id="{07E4AD91-3578-B80F-8562-9829927B4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217" b="19090"/>
          <a:stretch>
            <a:fillRect/>
          </a:stretch>
        </p:blipFill>
        <p:spPr bwMode="auto">
          <a:xfrm>
            <a:off x="5953591" y="1124606"/>
            <a:ext cx="3069785" cy="312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725532"/>
            <a:ext cx="3931920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0" y="362318"/>
            <a:ext cx="8229600" cy="36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725531"/>
            <a:ext cx="5529080" cy="4203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develop a unified dataset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Teaching Hours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dirty="0"/>
              <a:t> Research &amp; Administrative responsibilities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design an interactive Power BI dashboard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Visualizes workload distribution at individual &amp; departmental levels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dirty="0"/>
              <a:t>Provides Teaching KPIS, Service Hours KPIs and Balance KPIs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/>
              <a:t>To integrate AI and generate workload summaries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Tools: </a:t>
            </a:r>
            <a:r>
              <a:rPr lang="en-IN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Power Query Editor, Power BI, Copilot, Azure, Azure Data Factory, Data pipeline</a:t>
            </a:r>
            <a:endParaRPr lang="en-US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616E-5938-DA6C-89FF-A601B648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9681AD4-D578-85C9-9AC6-22AFDEDC0C04}"/>
              </a:ext>
            </a:extLst>
          </p:cNvPr>
          <p:cNvSpPr/>
          <p:nvPr/>
        </p:nvSpPr>
        <p:spPr>
          <a:xfrm>
            <a:off x="0" y="362318"/>
            <a:ext cx="8229600" cy="36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Key Advantages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AABF60-9115-A216-E098-0FCD2F2289B0}"/>
              </a:ext>
            </a:extLst>
          </p:cNvPr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8957FC93-E49B-42C1-444D-CD067F3BDC4A}"/>
              </a:ext>
            </a:extLst>
          </p:cNvPr>
          <p:cNvSpPr/>
          <p:nvPr/>
        </p:nvSpPr>
        <p:spPr>
          <a:xfrm>
            <a:off x="125486" y="725532"/>
            <a:ext cx="5182238" cy="4055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F8988-1F1C-1564-AA85-A8B514603B04}"/>
              </a:ext>
            </a:extLst>
          </p:cNvPr>
          <p:cNvSpPr txBox="1"/>
          <p:nvPr/>
        </p:nvSpPr>
        <p:spPr>
          <a:xfrm>
            <a:off x="199697" y="1051034"/>
            <a:ext cx="5728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Comprehensive Workload Visibility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 Support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Redistribution 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dk1"/>
                </a:solidFill>
              </a:rPr>
              <a:t>Leverages AI tools like Copilot to accelerate analysis and reduce human error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Research Time Allocation 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Imbalance Detection 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Morale </a:t>
            </a:r>
            <a:endParaRPr lang="en-IN" dirty="0"/>
          </a:p>
          <a:p>
            <a:pPr algn="just"/>
            <a:endParaRPr lang="en-IN" dirty="0"/>
          </a:p>
        </p:txBody>
      </p:sp>
      <p:pic>
        <p:nvPicPr>
          <p:cNvPr id="3074" name="Picture 2" descr="Benefits Icon Flat Line Style Illustration Representing ...">
            <a:extLst>
              <a:ext uri="{FF2B5EF4-FFF2-40B4-BE49-F238E27FC236}">
                <a16:creationId xmlns:a16="http://schemas.microsoft.com/office/drawing/2014/main" id="{B1DEB024-C0C8-B15E-2CBD-DA0D93E334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72"/>
          <a:stretch>
            <a:fillRect/>
          </a:stretch>
        </p:blipFill>
        <p:spPr bwMode="auto">
          <a:xfrm>
            <a:off x="6309026" y="903889"/>
            <a:ext cx="2709488" cy="255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9924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2528" y="39284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528" y="834737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834737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248" y="8461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248" y="1255361"/>
            <a:ext cx="4251960" cy="16337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 Excel Dataset with 109 rows and 25 columns </a:t>
            </a:r>
          </a:p>
          <a:p>
            <a:pPr lvl="0" algn="just"/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Primary sources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Departmental workload documents and timetables </a:t>
            </a:r>
          </a:p>
          <a:p>
            <a:pPr lvl="0"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IQAC committee allocation sheet</a:t>
            </a:r>
          </a:p>
        </p:txBody>
      </p:sp>
      <p:sp>
        <p:nvSpPr>
          <p:cNvPr id="10" name="Shape 8"/>
          <p:cNvSpPr/>
          <p:nvPr/>
        </p:nvSpPr>
        <p:spPr>
          <a:xfrm>
            <a:off x="4624528" y="845455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39328" y="859152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15968" y="871313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70248" y="1208068"/>
            <a:ext cx="4473752" cy="1681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600" dirty="0"/>
              <a:t> </a:t>
            </a:r>
            <a:r>
              <a:rPr lang="en-I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 Query</a:t>
            </a: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 normalize text and numeric formats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 Business rules 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Computed derived fields</a:t>
            </a:r>
          </a:p>
          <a:p>
            <a:pPr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Power BI for dashboard development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353903"/>
            <a:ext cx="4023360" cy="1564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used for Data input and cleaning using Power query editor.</a:t>
            </a:r>
          </a:p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 BI to develop visualizations Dashboard </a:t>
            </a:r>
          </a:p>
          <a:p>
            <a:pPr algn="just"/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Copilot was used to generate insightful summaries for actionable insights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 -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Departmental KPIS, 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Teaching KPI, Research </a:t>
            </a:r>
          </a:p>
          <a:p>
            <a:pPr algn="just"/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Admin KPIs and Balance KPIS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445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73664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1822" y="2424566"/>
            <a:ext cx="2976372" cy="2474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 b="1" dirty="0"/>
              <a:t>Teaching KPIs: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Department‑wise teaching load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New course allocations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Class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Teaching Hours by Experience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High‑load faculty Visualized</a:t>
            </a:r>
          </a:p>
        </p:txBody>
      </p:sp>
      <p:sp>
        <p:nvSpPr>
          <p:cNvPr id="16" name="Text 14"/>
          <p:cNvSpPr/>
          <p:nvPr/>
        </p:nvSpPr>
        <p:spPr>
          <a:xfrm>
            <a:off x="4656743" y="2677242"/>
            <a:ext cx="3037933" cy="2290795"/>
          </a:xfrm>
          <a:prstGeom prst="rect">
            <a:avLst/>
          </a:prstGeom>
          <a:solidFill>
            <a:srgbClr val="CEE3FA"/>
          </a:solidFill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Research hours shown categorically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Median and total service hours. Administrative loads are categorized by experience,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clear view of balance and alignment with institutional norms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5A63C0-3B56-7A4A-95B2-BECF33527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27" y="1096165"/>
            <a:ext cx="2809655" cy="12893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891687-C769-535B-51DD-A2559A6C4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374" y="1042334"/>
            <a:ext cx="3056301" cy="16245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B9386-9D0B-1ED4-EF06-11C6ACAB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2F41493-FECF-DC70-8B9F-9157D7BADDC2}"/>
              </a:ext>
            </a:extLst>
          </p:cNvPr>
          <p:cNvSpPr/>
          <p:nvPr/>
        </p:nvSpPr>
        <p:spPr>
          <a:xfrm>
            <a:off x="0" y="44456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 :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D3920F-30FA-EC0B-A922-A330D70E2CC5}"/>
              </a:ext>
            </a:extLst>
          </p:cNvPr>
          <p:cNvSpPr/>
          <p:nvPr/>
        </p:nvSpPr>
        <p:spPr>
          <a:xfrm>
            <a:off x="0" y="73664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FB0CD9-F121-A4BE-2D93-1ED4B07F276B}"/>
              </a:ext>
            </a:extLst>
          </p:cNvPr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4FDCFC-ACD4-E2C1-80E0-3F5EE4C3E754}"/>
              </a:ext>
            </a:extLst>
          </p:cNvPr>
          <p:cNvSpPr/>
          <p:nvPr/>
        </p:nvSpPr>
        <p:spPr>
          <a:xfrm>
            <a:off x="329184" y="2997194"/>
            <a:ext cx="2862072" cy="1921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Department wise averages of Research, Service &amp; Administrative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Highlighting correlations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7A4F24-ADCC-9BF9-A1A2-440F34CC4FC5}"/>
              </a:ext>
            </a:extLst>
          </p:cNvPr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04A650A-BD70-73B4-D851-E973C9BAC3B0}"/>
              </a:ext>
            </a:extLst>
          </p:cNvPr>
          <p:cNvSpPr/>
          <p:nvPr/>
        </p:nvSpPr>
        <p:spPr>
          <a:xfrm>
            <a:off x="4665384" y="3019837"/>
            <a:ext cx="2788920" cy="1698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generated insights guiding fair reallocation and improved research time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/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8E583EB-07C5-4160-76D6-1A9DFB93268E}"/>
              </a:ext>
            </a:extLst>
          </p:cNvPr>
          <p:cNvSpPr/>
          <p:nvPr/>
        </p:nvSpPr>
        <p:spPr>
          <a:xfrm>
            <a:off x="6300216" y="2702319"/>
            <a:ext cx="2514600" cy="1589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78A11F-A3CC-76A9-C1FB-09D050B82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848" y="1124582"/>
            <a:ext cx="3521784" cy="18726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FC5FE3-79D4-E024-09AE-613E59E6B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55" y="1169627"/>
            <a:ext cx="3236900" cy="18275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19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87592-D325-548A-6B96-6B853A14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" y="873829"/>
            <a:ext cx="8071945" cy="3994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8DBA7F-C9ED-7085-7BF8-A9227E0811F0}"/>
              </a:ext>
            </a:extLst>
          </p:cNvPr>
          <p:cNvSpPr txBox="1"/>
          <p:nvPr/>
        </p:nvSpPr>
        <p:spPr>
          <a:xfrm>
            <a:off x="683172" y="504497"/>
            <a:ext cx="772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Deployed in Azure: </a:t>
            </a:r>
            <a:r>
              <a:rPr lang="en-US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  <a:hlinkClick r:id="rId3"/>
              </a:rPr>
              <a:t>https://lemon-sky-026fb701e.7.azurestaticapps.net/</a:t>
            </a:r>
            <a:r>
              <a:rPr lang="en-US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05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DBED5-6793-624F-4AF0-C7A8A1180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755" y="1891755"/>
            <a:ext cx="4838345" cy="29039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2D596-9ECF-CC65-E4C2-0A1D858F0D6D}"/>
              </a:ext>
            </a:extLst>
          </p:cNvPr>
          <p:cNvSpPr txBox="1"/>
          <p:nvPr/>
        </p:nvSpPr>
        <p:spPr>
          <a:xfrm>
            <a:off x="4382814" y="1345324"/>
            <a:ext cx="476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the Data Pipeline in Azure Data Factory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7441E-E422-8D6D-FBC3-BC76E62E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00" y="827268"/>
            <a:ext cx="3845284" cy="23048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5B8597-0493-7ED8-9B67-A40D36E343FA}"/>
              </a:ext>
            </a:extLst>
          </p:cNvPr>
          <p:cNvSpPr txBox="1"/>
          <p:nvPr/>
        </p:nvSpPr>
        <p:spPr>
          <a:xfrm>
            <a:off x="231228" y="441434"/>
            <a:ext cx="3489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Created Blob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97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0378E-BF91-29BE-37AB-BEA76B2D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7404"/>
            <a:ext cx="4370872" cy="2212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F3DCC-6347-D7F8-7A26-6F4C82CA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6" y="2785241"/>
            <a:ext cx="4509927" cy="1996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614221-9C09-55A6-0FBA-297609986F58}"/>
              </a:ext>
            </a:extLst>
          </p:cNvPr>
          <p:cNvSpPr txBox="1"/>
          <p:nvPr/>
        </p:nvSpPr>
        <p:spPr>
          <a:xfrm>
            <a:off x="1308028" y="666672"/>
            <a:ext cx="2007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 a Trigger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7A8A67A-09EB-1ED5-CE20-D27DE4D23DF9}"/>
              </a:ext>
            </a:extLst>
          </p:cNvPr>
          <p:cNvSpPr/>
          <p:nvPr/>
        </p:nvSpPr>
        <p:spPr>
          <a:xfrm>
            <a:off x="3454718" y="785121"/>
            <a:ext cx="978408" cy="180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C912C-13D1-5CDD-800C-F34F4D65CA37}"/>
              </a:ext>
            </a:extLst>
          </p:cNvPr>
          <p:cNvSpPr txBox="1"/>
          <p:nvPr/>
        </p:nvSpPr>
        <p:spPr>
          <a:xfrm>
            <a:off x="5833242" y="3216166"/>
            <a:ext cx="241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Trigger Run successful</a:t>
            </a:r>
            <a:endParaRPr lang="en-IN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BCAFA7E-ACF6-DDEB-3E28-244B0EF64049}"/>
              </a:ext>
            </a:extLst>
          </p:cNvPr>
          <p:cNvSpPr/>
          <p:nvPr/>
        </p:nvSpPr>
        <p:spPr>
          <a:xfrm>
            <a:off x="4765798" y="3216166"/>
            <a:ext cx="978408" cy="263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1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8308" y="603504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2665" y="57150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57150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6615" y="754380"/>
            <a:ext cx="8348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61C773-F378-1230-F24A-424760DFAD05}"/>
              </a:ext>
            </a:extLst>
          </p:cNvPr>
          <p:cNvSpPr txBox="1"/>
          <p:nvPr/>
        </p:nvSpPr>
        <p:spPr>
          <a:xfrm>
            <a:off x="178308" y="84296"/>
            <a:ext cx="195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Video Demo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MicrosoftTeams-video (5)">
            <a:hlinkClick r:id="" action="ppaction://media"/>
            <a:extLst>
              <a:ext uri="{FF2B5EF4-FFF2-40B4-BE49-F238E27FC236}">
                <a16:creationId xmlns:a16="http://schemas.microsoft.com/office/drawing/2014/main" id="{22116890-0F29-209C-D7CD-29DB3DB3E258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10" y="0"/>
            <a:ext cx="9144000" cy="5143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8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1822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0" y="774455"/>
            <a:ext cx="6074979" cy="4196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project successfully developed a unified and cleaned dataset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dashboard captured  all the components through KPIs and revealed correlations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imbalance detection and redistribution modelling offered actionable insights for fairer workload allocation.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project further benefited from AI‑assisted insights through Copilot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Project is deployed on Azure Platform 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data had been stored on Blob Storage of Azure data Factory</a:t>
            </a:r>
          </a:p>
          <a:p>
            <a:pPr marL="0" indent="0">
              <a:buNone/>
            </a:pPr>
            <a:endParaRPr lang="en-US" sz="1400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trigger is created  successfully using the  data pipeline to enable continuous data ingestion</a:t>
            </a: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377C75-9DBB-F6C7-22FA-849A53D91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530"/>
          <a:stretch>
            <a:fillRect/>
          </a:stretch>
        </p:blipFill>
        <p:spPr>
          <a:xfrm>
            <a:off x="6074979" y="3032112"/>
            <a:ext cx="2768206" cy="1336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CD280A-D7C8-6103-B626-FD413A457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785" y="725426"/>
            <a:ext cx="2438400" cy="2438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465683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904595"/>
            <a:ext cx="4637939" cy="4004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 Machine Learning models on Faculty Load Balancing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Build a web-based interface or Power Apps solution for non-technical end users</a:t>
            </a:r>
          </a:p>
          <a:p>
            <a:pPr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 develop a chatbot interface to have a conversational flow</a:t>
            </a:r>
          </a:p>
          <a:p>
            <a:pPr lvl="0" algn="just"/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algn="just"/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115" y="1052473"/>
            <a:ext cx="4281885" cy="32114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DDD0C-D924-4E39-B113-FE47EE864BE5}"/>
              </a:ext>
            </a:extLst>
          </p:cNvPr>
          <p:cNvSpPr txBox="1"/>
          <p:nvPr/>
        </p:nvSpPr>
        <p:spPr>
          <a:xfrm>
            <a:off x="1587062" y="1755228"/>
            <a:ext cx="5885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Q &amp; A</a:t>
            </a:r>
            <a:endParaRPr lang="en-IN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6BE74-A846-4EED-965F-DFF19DD1A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36355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2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7464</TotalTime>
  <Words>672</Words>
  <Application>Microsoft Office PowerPoint</Application>
  <PresentationFormat>On-screen Show (16:9)</PresentationFormat>
  <Paragraphs>145</Paragraphs>
  <Slides>17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Dr. Rama Mokkarala</cp:lastModifiedBy>
  <cp:revision>63</cp:revision>
  <dcterms:created xsi:type="dcterms:W3CDTF">2026-02-18T09:17:23Z</dcterms:created>
  <dcterms:modified xsi:type="dcterms:W3CDTF">2026-04-28T13:27:04Z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