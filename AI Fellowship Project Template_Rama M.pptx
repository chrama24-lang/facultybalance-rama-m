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B532B97-BDD1-482C-AE68-719F175CE60D}" v="12" dt="2026-04-12T12:38:40.5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5" d="100"/>
          <a:sy n="85" d="100"/>
        </p:scale>
        <p:origin x="96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Rama Mokkarala" userId="4c375a3b0b3fb16c" providerId="LiveId" clId="{1231A1BB-169C-4ED4-BDD4-522A08B43434}"/>
    <pc:docChg chg="custSel modSld">
      <pc:chgData name="Dr. Rama Mokkarala" userId="4c375a3b0b3fb16c" providerId="LiveId" clId="{1231A1BB-169C-4ED4-BDD4-522A08B43434}" dt="2026-04-12T12:39:00.386" v="1227" actId="14100"/>
      <pc:docMkLst>
        <pc:docMk/>
      </pc:docMkLst>
      <pc:sldChg chg="modSp mod">
        <pc:chgData name="Dr. Rama Mokkarala" userId="4c375a3b0b3fb16c" providerId="LiveId" clId="{1231A1BB-169C-4ED4-BDD4-522A08B43434}" dt="2026-04-11T17:58:29.172" v="75" actId="20577"/>
        <pc:sldMkLst>
          <pc:docMk/>
          <pc:sldMk cId="0" sldId="256"/>
        </pc:sldMkLst>
        <pc:spChg chg="mod">
          <ac:chgData name="Dr. Rama Mokkarala" userId="4c375a3b0b3fb16c" providerId="LiveId" clId="{1231A1BB-169C-4ED4-BDD4-522A08B43434}" dt="2026-04-11T17:57:44.173" v="18" actId="20577"/>
          <ac:spMkLst>
            <pc:docMk/>
            <pc:sldMk cId="0" sldId="256"/>
            <ac:spMk id="12" creationId="{00000000-0000-0000-0000-000000000000}"/>
          </ac:spMkLst>
        </pc:spChg>
        <pc:spChg chg="mod">
          <ac:chgData name="Dr. Rama Mokkarala" userId="4c375a3b0b3fb16c" providerId="LiveId" clId="{1231A1BB-169C-4ED4-BDD4-522A08B43434}" dt="2026-04-11T17:58:04.780" v="47" actId="6549"/>
          <ac:spMkLst>
            <pc:docMk/>
            <pc:sldMk cId="0" sldId="256"/>
            <ac:spMk id="19" creationId="{00000000-0000-0000-0000-000000000000}"/>
          </ac:spMkLst>
        </pc:spChg>
        <pc:spChg chg="mod">
          <ac:chgData name="Dr. Rama Mokkarala" userId="4c375a3b0b3fb16c" providerId="LiveId" clId="{1231A1BB-169C-4ED4-BDD4-522A08B43434}" dt="2026-04-11T17:58:17.665" v="66" actId="20577"/>
          <ac:spMkLst>
            <pc:docMk/>
            <pc:sldMk cId="0" sldId="256"/>
            <ac:spMk id="23" creationId="{00000000-0000-0000-0000-000000000000}"/>
          </ac:spMkLst>
        </pc:spChg>
        <pc:spChg chg="mod">
          <ac:chgData name="Dr. Rama Mokkarala" userId="4c375a3b0b3fb16c" providerId="LiveId" clId="{1231A1BB-169C-4ED4-BDD4-522A08B43434}" dt="2026-04-11T17:58:29.172" v="75" actId="20577"/>
          <ac:spMkLst>
            <pc:docMk/>
            <pc:sldMk cId="0" sldId="256"/>
            <ac:spMk id="27" creationId="{00000000-0000-0000-0000-000000000000}"/>
          </ac:spMkLst>
        </pc:spChg>
      </pc:sldChg>
      <pc:sldChg chg="modSp mod">
        <pc:chgData name="Dr. Rama Mokkarala" userId="4c375a3b0b3fb16c" providerId="LiveId" clId="{1231A1BB-169C-4ED4-BDD4-522A08B43434}" dt="2026-04-12T12:38:11.741" v="1222" actId="313"/>
        <pc:sldMkLst>
          <pc:docMk/>
          <pc:sldMk cId="0" sldId="258"/>
        </pc:sldMkLst>
        <pc:spChg chg="mod">
          <ac:chgData name="Dr. Rama Mokkarala" userId="4c375a3b0b3fb16c" providerId="LiveId" clId="{1231A1BB-169C-4ED4-BDD4-522A08B43434}" dt="2026-04-11T18:15:20.001" v="441" actId="14100"/>
          <ac:spMkLst>
            <pc:docMk/>
            <pc:sldMk cId="0" sldId="258"/>
            <ac:spMk id="19" creationId="{7BA53C9D-AAA2-05C7-14B1-F7DA481CA53F}"/>
          </ac:spMkLst>
        </pc:spChg>
        <pc:spChg chg="mod">
          <ac:chgData name="Dr. Rama Mokkarala" userId="4c375a3b0b3fb16c" providerId="LiveId" clId="{1231A1BB-169C-4ED4-BDD4-522A08B43434}" dt="2026-04-11T18:01:03.830" v="87" actId="6549"/>
          <ac:spMkLst>
            <pc:docMk/>
            <pc:sldMk cId="0" sldId="258"/>
            <ac:spMk id="20" creationId="{FBB90A13-7196-D2E6-20B4-845F03152899}"/>
          </ac:spMkLst>
        </pc:spChg>
        <pc:spChg chg="mod">
          <ac:chgData name="Dr. Rama Mokkarala" userId="4c375a3b0b3fb16c" providerId="LiveId" clId="{1231A1BB-169C-4ED4-BDD4-522A08B43434}" dt="2026-04-12T12:38:06.697" v="1221" actId="313"/>
          <ac:spMkLst>
            <pc:docMk/>
            <pc:sldMk cId="0" sldId="258"/>
            <ac:spMk id="21" creationId="{4BCD0967-8763-EBD0-918B-8930803EE40C}"/>
          </ac:spMkLst>
        </pc:spChg>
        <pc:spChg chg="mod">
          <ac:chgData name="Dr. Rama Mokkarala" userId="4c375a3b0b3fb16c" providerId="LiveId" clId="{1231A1BB-169C-4ED4-BDD4-522A08B43434}" dt="2026-04-11T18:09:29.440" v="421" actId="14100"/>
          <ac:spMkLst>
            <pc:docMk/>
            <pc:sldMk cId="0" sldId="258"/>
            <ac:spMk id="22" creationId="{A079AF38-4D82-61EA-A6DE-714C1225E65B}"/>
          </ac:spMkLst>
        </pc:spChg>
        <pc:spChg chg="mod">
          <ac:chgData name="Dr. Rama Mokkarala" userId="4c375a3b0b3fb16c" providerId="LiveId" clId="{1231A1BB-169C-4ED4-BDD4-522A08B43434}" dt="2026-04-12T12:38:11.741" v="1222" actId="313"/>
          <ac:spMkLst>
            <pc:docMk/>
            <pc:sldMk cId="0" sldId="258"/>
            <ac:spMk id="23" creationId="{E42052B7-1005-7C95-89EC-CBD8D61EEAEE}"/>
          </ac:spMkLst>
        </pc:spChg>
      </pc:sldChg>
      <pc:sldChg chg="modSp mod">
        <pc:chgData name="Dr. Rama Mokkarala" userId="4c375a3b0b3fb16c" providerId="LiveId" clId="{1231A1BB-169C-4ED4-BDD4-522A08B43434}" dt="2026-04-11T18:25:57.582" v="690" actId="14100"/>
        <pc:sldMkLst>
          <pc:docMk/>
          <pc:sldMk cId="0" sldId="259"/>
        </pc:sldMkLst>
        <pc:spChg chg="mod">
          <ac:chgData name="Dr. Rama Mokkarala" userId="4c375a3b0b3fb16c" providerId="LiveId" clId="{1231A1BB-169C-4ED4-BDD4-522A08B43434}" dt="2026-04-11T18:20:33.919" v="496" actId="123"/>
          <ac:spMkLst>
            <pc:docMk/>
            <pc:sldMk cId="0" sldId="259"/>
            <ac:spMk id="14" creationId="{00000000-0000-0000-0000-000000000000}"/>
          </ac:spMkLst>
        </pc:spChg>
        <pc:spChg chg="mod">
          <ac:chgData name="Dr. Rama Mokkarala" userId="4c375a3b0b3fb16c" providerId="LiveId" clId="{1231A1BB-169C-4ED4-BDD4-522A08B43434}" dt="2026-04-11T18:20:24.181" v="495" actId="14100"/>
          <ac:spMkLst>
            <pc:docMk/>
            <pc:sldMk cId="0" sldId="259"/>
            <ac:spMk id="15" creationId="{00000000-0000-0000-0000-000000000000}"/>
          </ac:spMkLst>
        </pc:spChg>
        <pc:spChg chg="mod">
          <ac:chgData name="Dr. Rama Mokkarala" userId="4c375a3b0b3fb16c" providerId="LiveId" clId="{1231A1BB-169C-4ED4-BDD4-522A08B43434}" dt="2026-04-11T18:22:21.395" v="570" actId="1076"/>
          <ac:spMkLst>
            <pc:docMk/>
            <pc:sldMk cId="0" sldId="259"/>
            <ac:spMk id="16" creationId="{00000000-0000-0000-0000-000000000000}"/>
          </ac:spMkLst>
        </pc:spChg>
        <pc:spChg chg="mod">
          <ac:chgData name="Dr. Rama Mokkarala" userId="4c375a3b0b3fb16c" providerId="LiveId" clId="{1231A1BB-169C-4ED4-BDD4-522A08B43434}" dt="2026-04-11T18:25:50.466" v="688" actId="1076"/>
          <ac:spMkLst>
            <pc:docMk/>
            <pc:sldMk cId="0" sldId="259"/>
            <ac:spMk id="17" creationId="{00000000-0000-0000-0000-000000000000}"/>
          </ac:spMkLst>
        </pc:spChg>
        <pc:spChg chg="mod">
          <ac:chgData name="Dr. Rama Mokkarala" userId="4c375a3b0b3fb16c" providerId="LiveId" clId="{1231A1BB-169C-4ED4-BDD4-522A08B43434}" dt="2026-04-11T18:25:57.582" v="690" actId="14100"/>
          <ac:spMkLst>
            <pc:docMk/>
            <pc:sldMk cId="0" sldId="259"/>
            <ac:spMk id="18" creationId="{00000000-0000-0000-0000-000000000000}"/>
          </ac:spMkLst>
        </pc:spChg>
      </pc:sldChg>
      <pc:sldChg chg="modSp mod">
        <pc:chgData name="Dr. Rama Mokkarala" userId="4c375a3b0b3fb16c" providerId="LiveId" clId="{1231A1BB-169C-4ED4-BDD4-522A08B43434}" dt="2026-04-12T12:38:30.040" v="1223" actId="20577"/>
        <pc:sldMkLst>
          <pc:docMk/>
          <pc:sldMk cId="0" sldId="261"/>
        </pc:sldMkLst>
        <pc:spChg chg="mod">
          <ac:chgData name="Dr. Rama Mokkarala" userId="4c375a3b0b3fb16c" providerId="LiveId" clId="{1231A1BB-169C-4ED4-BDD4-522A08B43434}" dt="2026-04-12T12:38:30.040" v="1223" actId="20577"/>
          <ac:spMkLst>
            <pc:docMk/>
            <pc:sldMk cId="0" sldId="261"/>
            <ac:spMk id="13" creationId="{00000000-0000-0000-0000-000000000000}"/>
          </ac:spMkLst>
        </pc:spChg>
      </pc:sldChg>
      <pc:sldChg chg="addSp delSp modSp mod">
        <pc:chgData name="Dr. Rama Mokkarala" userId="4c375a3b0b3fb16c" providerId="LiveId" clId="{1231A1BB-169C-4ED4-BDD4-522A08B43434}" dt="2026-04-12T04:57:20.381" v="1219" actId="123"/>
        <pc:sldMkLst>
          <pc:docMk/>
          <pc:sldMk cId="0" sldId="262"/>
        </pc:sldMkLst>
        <pc:spChg chg="mod">
          <ac:chgData name="Dr. Rama Mokkarala" userId="4c375a3b0b3fb16c" providerId="LiveId" clId="{1231A1BB-169C-4ED4-BDD4-522A08B43434}" dt="2026-04-12T04:57:20.381" v="1219" actId="123"/>
          <ac:spMkLst>
            <pc:docMk/>
            <pc:sldMk cId="0" sldId="262"/>
            <ac:spMk id="11" creationId="{00000000-0000-0000-0000-000000000000}"/>
          </ac:spMkLst>
        </pc:spChg>
        <pc:picChg chg="add del mod">
          <ac:chgData name="Dr. Rama Mokkarala" userId="4c375a3b0b3fb16c" providerId="LiveId" clId="{1231A1BB-169C-4ED4-BDD4-522A08B43434}" dt="2026-04-12T04:49:47.084" v="799" actId="478"/>
          <ac:picMkLst>
            <pc:docMk/>
            <pc:sldMk cId="0" sldId="262"/>
            <ac:picMk id="23" creationId="{E8A408DC-5FF8-E0BE-0B80-19A9E00E7C4D}"/>
          </ac:picMkLst>
        </pc:picChg>
        <pc:picChg chg="add del mod">
          <ac:chgData name="Dr. Rama Mokkarala" userId="4c375a3b0b3fb16c" providerId="LiveId" clId="{1231A1BB-169C-4ED4-BDD4-522A08B43434}" dt="2026-04-12T04:49:50.214" v="800" actId="21"/>
          <ac:picMkLst>
            <pc:docMk/>
            <pc:sldMk cId="0" sldId="262"/>
            <ac:picMk id="25" creationId="{D1123CF0-F924-9D11-0339-5B40E7CEE263}"/>
          </ac:picMkLst>
        </pc:picChg>
        <pc:picChg chg="add mod">
          <ac:chgData name="Dr. Rama Mokkarala" userId="4c375a3b0b3fb16c" providerId="LiveId" clId="{1231A1BB-169C-4ED4-BDD4-522A08B43434}" dt="2026-04-12T04:49:59.997" v="802" actId="1076"/>
          <ac:picMkLst>
            <pc:docMk/>
            <pc:sldMk cId="0" sldId="262"/>
            <ac:picMk id="26" creationId="{D1123CF0-F924-9D11-0339-5B40E7CEE263}"/>
          </ac:picMkLst>
        </pc:picChg>
      </pc:sldChg>
      <pc:sldChg chg="modSp mod">
        <pc:chgData name="Dr. Rama Mokkarala" userId="4c375a3b0b3fb16c" providerId="LiveId" clId="{1231A1BB-169C-4ED4-BDD4-522A08B43434}" dt="2026-04-12T12:39:00.386" v="1227" actId="14100"/>
        <pc:sldMkLst>
          <pc:docMk/>
          <pc:sldMk cId="0" sldId="263"/>
        </pc:sldMkLst>
        <pc:spChg chg="mod">
          <ac:chgData name="Dr. Rama Mokkarala" userId="4c375a3b0b3fb16c" providerId="LiveId" clId="{1231A1BB-169C-4ED4-BDD4-522A08B43434}" dt="2026-04-12T12:39:00.386" v="1227" actId="14100"/>
          <ac:spMkLst>
            <pc:docMk/>
            <pc:sldMk cId="0" sldId="263"/>
            <ac:spMk id="12" creationId="{00000000-0000-0000-0000-000000000000}"/>
          </ac:spMkLst>
        </pc:spChg>
      </pc:sldChg>
      <pc:sldChg chg="delSp modSp mod">
        <pc:chgData name="Dr. Rama Mokkarala" userId="4c375a3b0b3fb16c" providerId="LiveId" clId="{1231A1BB-169C-4ED4-BDD4-522A08B43434}" dt="2026-04-12T02:03:07.237" v="728" actId="123"/>
        <pc:sldMkLst>
          <pc:docMk/>
          <pc:sldMk cId="0" sldId="265"/>
        </pc:sldMkLst>
        <pc:spChg chg="del">
          <ac:chgData name="Dr. Rama Mokkarala" userId="4c375a3b0b3fb16c" providerId="LiveId" clId="{1231A1BB-169C-4ED4-BDD4-522A08B43434}" dt="2026-04-12T01:59:54.685" v="714" actId="478"/>
          <ac:spMkLst>
            <pc:docMk/>
            <pc:sldMk cId="0" sldId="265"/>
            <ac:spMk id="5" creationId="{00000000-0000-0000-0000-000000000000}"/>
          </ac:spMkLst>
        </pc:spChg>
        <pc:spChg chg="del">
          <ac:chgData name="Dr. Rama Mokkarala" userId="4c375a3b0b3fb16c" providerId="LiveId" clId="{1231A1BB-169C-4ED4-BDD4-522A08B43434}" dt="2026-04-12T01:58:02.864" v="702" actId="478"/>
          <ac:spMkLst>
            <pc:docMk/>
            <pc:sldMk cId="0" sldId="265"/>
            <ac:spMk id="6" creationId="{00000000-0000-0000-0000-000000000000}"/>
          </ac:spMkLst>
        </pc:spChg>
        <pc:spChg chg="del">
          <ac:chgData name="Dr. Rama Mokkarala" userId="4c375a3b0b3fb16c" providerId="LiveId" clId="{1231A1BB-169C-4ED4-BDD4-522A08B43434}" dt="2026-04-12T01:58:07.016" v="703" actId="478"/>
          <ac:spMkLst>
            <pc:docMk/>
            <pc:sldMk cId="0" sldId="265"/>
            <ac:spMk id="7" creationId="{00000000-0000-0000-0000-000000000000}"/>
          </ac:spMkLst>
        </pc:spChg>
        <pc:spChg chg="del">
          <ac:chgData name="Dr. Rama Mokkarala" userId="4c375a3b0b3fb16c" providerId="LiveId" clId="{1231A1BB-169C-4ED4-BDD4-522A08B43434}" dt="2026-04-12T01:58:10.950" v="704" actId="478"/>
          <ac:spMkLst>
            <pc:docMk/>
            <pc:sldMk cId="0" sldId="265"/>
            <ac:spMk id="8" creationId="{00000000-0000-0000-0000-000000000000}"/>
          </ac:spMkLst>
        </pc:spChg>
        <pc:spChg chg="del mod">
          <ac:chgData name="Dr. Rama Mokkarala" userId="4c375a3b0b3fb16c" providerId="LiveId" clId="{1231A1BB-169C-4ED4-BDD4-522A08B43434}" dt="2026-04-12T01:57:52.793" v="701" actId="478"/>
          <ac:spMkLst>
            <pc:docMk/>
            <pc:sldMk cId="0" sldId="265"/>
            <ac:spMk id="9" creationId="{00000000-0000-0000-0000-000000000000}"/>
          </ac:spMkLst>
        </pc:spChg>
        <pc:spChg chg="del">
          <ac:chgData name="Dr. Rama Mokkarala" userId="4c375a3b0b3fb16c" providerId="LiveId" clId="{1231A1BB-169C-4ED4-BDD4-522A08B43434}" dt="2026-04-12T01:58:16.384" v="705" actId="478"/>
          <ac:spMkLst>
            <pc:docMk/>
            <pc:sldMk cId="0" sldId="265"/>
            <ac:spMk id="10" creationId="{00000000-0000-0000-0000-000000000000}"/>
          </ac:spMkLst>
        </pc:spChg>
        <pc:spChg chg="del">
          <ac:chgData name="Dr. Rama Mokkarala" userId="4c375a3b0b3fb16c" providerId="LiveId" clId="{1231A1BB-169C-4ED4-BDD4-522A08B43434}" dt="2026-04-11T18:30:59.833" v="699" actId="478"/>
          <ac:spMkLst>
            <pc:docMk/>
            <pc:sldMk cId="0" sldId="265"/>
            <ac:spMk id="11" creationId="{00000000-0000-0000-0000-000000000000}"/>
          </ac:spMkLst>
        </pc:spChg>
        <pc:spChg chg="del">
          <ac:chgData name="Dr. Rama Mokkarala" userId="4c375a3b0b3fb16c" providerId="LiveId" clId="{1231A1BB-169C-4ED4-BDD4-522A08B43434}" dt="2026-04-12T02:02:37.614" v="725" actId="478"/>
          <ac:spMkLst>
            <pc:docMk/>
            <pc:sldMk cId="0" sldId="265"/>
            <ac:spMk id="12" creationId="{00000000-0000-0000-0000-000000000000}"/>
          </ac:spMkLst>
        </pc:spChg>
        <pc:spChg chg="del mod">
          <ac:chgData name="Dr. Rama Mokkarala" userId="4c375a3b0b3fb16c" providerId="LiveId" clId="{1231A1BB-169C-4ED4-BDD4-522A08B43434}" dt="2026-04-12T02:00:02.261" v="716" actId="478"/>
          <ac:spMkLst>
            <pc:docMk/>
            <pc:sldMk cId="0" sldId="265"/>
            <ac:spMk id="13" creationId="{00000000-0000-0000-0000-000000000000}"/>
          </ac:spMkLst>
        </pc:spChg>
        <pc:spChg chg="mod">
          <ac:chgData name="Dr. Rama Mokkarala" userId="4c375a3b0b3fb16c" providerId="LiveId" clId="{1231A1BB-169C-4ED4-BDD4-522A08B43434}" dt="2026-04-12T02:03:07.237" v="728" actId="123"/>
          <ac:spMkLst>
            <pc:docMk/>
            <pc:sldMk cId="0" sldId="265"/>
            <ac:spMk id="14" creationId="{00000000-0000-0000-0000-000000000000}"/>
          </ac:spMkLst>
        </pc:spChg>
        <pc:spChg chg="mod">
          <ac:chgData name="Dr. Rama Mokkarala" userId="4c375a3b0b3fb16c" providerId="LiveId" clId="{1231A1BB-169C-4ED4-BDD4-522A08B43434}" dt="2026-04-12T02:01:03.856" v="719" actId="14100"/>
          <ac:spMkLst>
            <pc:docMk/>
            <pc:sldMk cId="0" sldId="265"/>
            <ac:spMk id="15" creationId="{00000000-0000-0000-0000-000000000000}"/>
          </ac:spMkLst>
        </pc:spChg>
        <pc:spChg chg="mod">
          <ac:chgData name="Dr. Rama Mokkarala" userId="4c375a3b0b3fb16c" providerId="LiveId" clId="{1231A1BB-169C-4ED4-BDD4-522A08B43434}" dt="2026-04-12T02:01:17.304" v="720" actId="14100"/>
          <ac:spMkLst>
            <pc:docMk/>
            <pc:sldMk cId="0" sldId="265"/>
            <ac:spMk id="16" creationId="{00000000-0000-0000-0000-000000000000}"/>
          </ac:spMkLst>
        </pc:spChg>
        <pc:spChg chg="del mod">
          <ac:chgData name="Dr. Rama Mokkarala" userId="4c375a3b0b3fb16c" providerId="LiveId" clId="{1231A1BB-169C-4ED4-BDD4-522A08B43434}" dt="2026-04-11T18:30:53.652" v="698" actId="478"/>
          <ac:spMkLst>
            <pc:docMk/>
            <pc:sldMk cId="0" sldId="265"/>
            <ac:spMk id="1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hyperlink" Target="https://drive.google.com/file/d/1hVa6s_7a4nLf5VAXvBw8Gg3SSsFTqyil/view?usp=drive_link"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FFFFFF"/>
          </a:solidFill>
          <a:ln/>
        </p:spPr>
        <p:txBody>
          <a:bodyPr/>
          <a:lstStyle/>
          <a:p>
            <a:endParaRPr lang="en-IN"/>
          </a:p>
        </p:txBody>
      </p:sp>
      <p:sp>
        <p:nvSpPr>
          <p:cNvPr id="3" name="Shape 1"/>
          <p:cNvSpPr/>
          <p:nvPr/>
        </p:nvSpPr>
        <p:spPr>
          <a:xfrm>
            <a:off x="320040" y="91440"/>
            <a:ext cx="4572000" cy="502920"/>
          </a:xfrm>
          <a:prstGeom prst="rect">
            <a:avLst/>
          </a:prstGeom>
          <a:solidFill>
            <a:srgbClr val="FFFFFF"/>
          </a:solidFill>
          <a:ln w="12700">
            <a:solidFill>
              <a:srgbClr val="CCCCCC"/>
            </a:solidFill>
            <a:prstDash val="solid"/>
          </a:ln>
        </p:spPr>
        <p:txBody>
          <a:bodyPr/>
          <a:lstStyle/>
          <a:p>
            <a:endParaRPr lang="en-IN"/>
          </a:p>
        </p:txBody>
      </p:sp>
      <p:sp>
        <p:nvSpPr>
          <p:cNvPr id="4" name="Text 2"/>
          <p:cNvSpPr/>
          <p:nvPr/>
        </p:nvSpPr>
        <p:spPr>
          <a:xfrm>
            <a:off x="365760" y="137160"/>
            <a:ext cx="4480560" cy="411480"/>
          </a:xfrm>
          <a:prstGeom prst="rect">
            <a:avLst/>
          </a:prstGeom>
          <a:noFill/>
          <a:ln/>
        </p:spPr>
        <p:txBody>
          <a:bodyPr wrap="square" rtlCol="0" anchor="ctr"/>
          <a:lstStyle/>
          <a:p>
            <a:pPr marL="0" indent="0">
              <a:buNone/>
            </a:pPr>
            <a:r>
              <a:rPr lang="en-US" sz="950">
                <a:solidFill>
                  <a:srgbClr val="607D8B"/>
                </a:solidFill>
                <a:latin typeface="Calibri" pitchFamily="34" charset="0"/>
                <a:ea typeface="Calibri" pitchFamily="34" charset="-122"/>
                <a:cs typeface="Calibri" pitchFamily="34" charset="-120"/>
              </a:rPr>
              <a:t> LinkedIn  </a:t>
            </a:r>
            <a:r>
              <a:rPr lang="en-US" sz="950" err="1">
                <a:solidFill>
                  <a:srgbClr val="607D8B"/>
                </a:solidFill>
                <a:latin typeface="Calibri" pitchFamily="34" charset="0"/>
                <a:ea typeface="Calibri" pitchFamily="34" charset="-122"/>
                <a:cs typeface="Calibri" pitchFamily="34" charset="-120"/>
              </a:rPr>
              <a:t>Edunet</a:t>
            </a:r>
            <a:r>
              <a:rPr lang="en-US" sz="950">
                <a:solidFill>
                  <a:srgbClr val="607D8B"/>
                </a:solidFill>
                <a:latin typeface="Calibri" pitchFamily="34" charset="0"/>
                <a:ea typeface="Calibri" pitchFamily="34" charset="-122"/>
                <a:cs typeface="Calibri" pitchFamily="34" charset="-120"/>
              </a:rPr>
              <a:t>   </a:t>
            </a:r>
            <a:endParaRPr lang="en-US" sz="950"/>
          </a:p>
        </p:txBody>
      </p:sp>
      <p:sp>
        <p:nvSpPr>
          <p:cNvPr id="5" name="Shape 3"/>
          <p:cNvSpPr/>
          <p:nvPr/>
        </p:nvSpPr>
        <p:spPr>
          <a:xfrm>
            <a:off x="5943600" y="0"/>
            <a:ext cx="3200400" cy="5143500"/>
          </a:xfrm>
          <a:prstGeom prst="rect">
            <a:avLst/>
          </a:prstGeom>
          <a:solidFill>
            <a:srgbClr val="1B3A8A"/>
          </a:solidFill>
          <a:ln/>
        </p:spPr>
        <p:txBody>
          <a:bodyPr/>
          <a:lstStyle/>
          <a:p>
            <a:endParaRPr lang="en-IN"/>
          </a:p>
        </p:txBody>
      </p:sp>
      <p:sp>
        <p:nvSpPr>
          <p:cNvPr id="6" name="Shape 4"/>
          <p:cNvSpPr/>
          <p:nvPr/>
        </p:nvSpPr>
        <p:spPr>
          <a:xfrm>
            <a:off x="5486400" y="0"/>
            <a:ext cx="502920" cy="5143500"/>
          </a:xfrm>
          <a:prstGeom prst="rect">
            <a:avLst/>
          </a:prstGeom>
          <a:solidFill>
            <a:srgbClr val="1565C0"/>
          </a:solidFill>
          <a:ln/>
        </p:spPr>
        <p:txBody>
          <a:bodyPr/>
          <a:lstStyle/>
          <a:p>
            <a:endParaRPr lang="en-IN"/>
          </a:p>
        </p:txBody>
      </p:sp>
      <p:sp>
        <p:nvSpPr>
          <p:cNvPr id="9" name="Shape 7"/>
          <p:cNvSpPr/>
          <p:nvPr/>
        </p:nvSpPr>
        <p:spPr>
          <a:xfrm>
            <a:off x="6126480" y="3108960"/>
            <a:ext cx="2834640" cy="109728"/>
          </a:xfrm>
          <a:prstGeom prst="rect">
            <a:avLst/>
          </a:prstGeom>
          <a:solidFill>
            <a:srgbClr val="4FC3F7"/>
          </a:solidFill>
          <a:ln/>
        </p:spPr>
        <p:txBody>
          <a:bodyPr/>
          <a:lstStyle/>
          <a:p>
            <a:endParaRPr lang="en-IN"/>
          </a:p>
        </p:txBody>
      </p:sp>
      <p:sp>
        <p:nvSpPr>
          <p:cNvPr id="10" name="Shape 8"/>
          <p:cNvSpPr/>
          <p:nvPr/>
        </p:nvSpPr>
        <p:spPr>
          <a:xfrm>
            <a:off x="6400800" y="3291840"/>
            <a:ext cx="2468880" cy="109728"/>
          </a:xfrm>
          <a:prstGeom prst="rect">
            <a:avLst/>
          </a:prstGeom>
          <a:solidFill>
            <a:srgbClr val="4FC3F7"/>
          </a:solidFill>
          <a:ln/>
        </p:spPr>
        <p:txBody>
          <a:bodyPr/>
          <a:lstStyle/>
          <a:p>
            <a:endParaRPr lang="en-IN"/>
          </a:p>
        </p:txBody>
      </p:sp>
      <p:sp>
        <p:nvSpPr>
          <p:cNvPr id="11" name="Shape 9"/>
          <p:cNvSpPr/>
          <p:nvPr/>
        </p:nvSpPr>
        <p:spPr>
          <a:xfrm>
            <a:off x="6675120" y="3474720"/>
            <a:ext cx="2103120" cy="109728"/>
          </a:xfrm>
          <a:prstGeom prst="rect">
            <a:avLst/>
          </a:prstGeom>
          <a:solidFill>
            <a:srgbClr val="4FC3F7"/>
          </a:solidFill>
          <a:ln/>
        </p:spPr>
        <p:txBody>
          <a:bodyPr/>
          <a:lstStyle/>
          <a:p>
            <a:endParaRPr lang="en-IN"/>
          </a:p>
        </p:txBody>
      </p:sp>
      <p:sp>
        <p:nvSpPr>
          <p:cNvPr id="12" name="Text 10"/>
          <p:cNvSpPr/>
          <p:nvPr/>
        </p:nvSpPr>
        <p:spPr>
          <a:xfrm>
            <a:off x="320040" y="960120"/>
            <a:ext cx="5029200" cy="1463040"/>
          </a:xfrm>
          <a:prstGeom prst="rect">
            <a:avLst/>
          </a:prstGeom>
          <a:noFill/>
          <a:ln/>
        </p:spPr>
        <p:txBody>
          <a:bodyPr wrap="square" rtlCol="0" anchor="ctr"/>
          <a:lstStyle/>
          <a:p>
            <a:pPr algn="ctr"/>
            <a:r>
              <a:rPr lang="en-IN" sz="2000" b="1" dirty="0" err="1"/>
              <a:t>FacultyBalance</a:t>
            </a:r>
            <a:r>
              <a:rPr lang="en-IN" sz="2000" b="1" dirty="0"/>
              <a:t>-AI Assisted Faculty Time Allocation</a:t>
            </a:r>
            <a:endParaRPr lang="en-US" sz="3800" dirty="0"/>
          </a:p>
        </p:txBody>
      </p:sp>
      <p:sp>
        <p:nvSpPr>
          <p:cNvPr id="13" name="Shape 11"/>
          <p:cNvSpPr/>
          <p:nvPr/>
        </p:nvSpPr>
        <p:spPr>
          <a:xfrm>
            <a:off x="320040" y="2578608"/>
            <a:ext cx="3840480" cy="384048"/>
          </a:xfrm>
          <a:prstGeom prst="rect">
            <a:avLst/>
          </a:prstGeom>
          <a:solidFill>
            <a:srgbClr val="1565C0"/>
          </a:solidFill>
          <a:ln/>
        </p:spPr>
        <p:txBody>
          <a:bodyPr/>
          <a:lstStyle/>
          <a:p>
            <a:endParaRPr lang="en-IN"/>
          </a:p>
        </p:txBody>
      </p:sp>
      <p:sp>
        <p:nvSpPr>
          <p:cNvPr id="14" name="Shape 12"/>
          <p:cNvSpPr/>
          <p:nvPr/>
        </p:nvSpPr>
        <p:spPr>
          <a:xfrm>
            <a:off x="4160520" y="2578608"/>
            <a:ext cx="274320" cy="384048"/>
          </a:xfrm>
          <a:prstGeom prst="rect">
            <a:avLst/>
          </a:prstGeom>
          <a:solidFill>
            <a:srgbClr val="1B3A8A"/>
          </a:solidFill>
          <a:ln/>
        </p:spPr>
        <p:txBody>
          <a:bodyPr/>
          <a:lstStyle/>
          <a:p>
            <a:endParaRPr lang="en-IN"/>
          </a:p>
        </p:txBody>
      </p:sp>
      <p:sp>
        <p:nvSpPr>
          <p:cNvPr id="15" name="Text 13"/>
          <p:cNvSpPr/>
          <p:nvPr/>
        </p:nvSpPr>
        <p:spPr>
          <a:xfrm>
            <a:off x="320040" y="2578608"/>
            <a:ext cx="3840480" cy="384048"/>
          </a:xfrm>
          <a:prstGeom prst="rect">
            <a:avLst/>
          </a:prstGeom>
          <a:noFill/>
          <a:ln/>
        </p:spPr>
        <p:txBody>
          <a:bodyPr wrap="square" rtlCol="0" anchor="ctr"/>
          <a:lstStyle/>
          <a:p>
            <a:pPr marL="0" indent="0">
              <a:buNone/>
            </a:pPr>
            <a:r>
              <a:rPr lang="en-US" sz="1300" b="1" kern="0" spc="200">
                <a:solidFill>
                  <a:srgbClr val="FFFFFF"/>
                </a:solidFill>
                <a:latin typeface="Calibri" pitchFamily="34" charset="0"/>
                <a:ea typeface="Calibri" pitchFamily="34" charset="-122"/>
                <a:cs typeface="Calibri" pitchFamily="34" charset="-120"/>
              </a:rPr>
              <a:t>P R E S E N T A T I O N   2 0 2 6</a:t>
            </a:r>
            <a:endParaRPr lang="en-US" sz="1300"/>
          </a:p>
        </p:txBody>
      </p:sp>
      <p:sp>
        <p:nvSpPr>
          <p:cNvPr id="16" name="Shape 14"/>
          <p:cNvSpPr/>
          <p:nvPr/>
        </p:nvSpPr>
        <p:spPr>
          <a:xfrm>
            <a:off x="320040" y="3611880"/>
            <a:ext cx="411480" cy="411480"/>
          </a:xfrm>
          <a:prstGeom prst="ellipse">
            <a:avLst/>
          </a:prstGeom>
          <a:solidFill>
            <a:srgbClr val="ECEFF1"/>
          </a:solidFill>
          <a:ln w="19050">
            <a:solidFill>
              <a:srgbClr val="1B3A8A"/>
            </a:solidFill>
            <a:prstDash val="solid"/>
          </a:ln>
        </p:spPr>
        <p:txBody>
          <a:bodyPr/>
          <a:lstStyle/>
          <a:p>
            <a:endParaRPr lang="en-IN"/>
          </a:p>
        </p:txBody>
      </p:sp>
      <p:sp>
        <p:nvSpPr>
          <p:cNvPr id="17" name="Text 15"/>
          <p:cNvSpPr/>
          <p:nvPr/>
        </p:nvSpPr>
        <p:spPr>
          <a:xfrm>
            <a:off x="320040" y="3621024"/>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18" name="Text 16"/>
          <p:cNvSpPr/>
          <p:nvPr/>
        </p:nvSpPr>
        <p:spPr>
          <a:xfrm>
            <a:off x="777240" y="3611880"/>
            <a:ext cx="1828800" cy="201168"/>
          </a:xfrm>
          <a:prstGeom prst="rect">
            <a:avLst/>
          </a:prstGeom>
          <a:noFill/>
          <a:ln/>
        </p:spPr>
        <p:txBody>
          <a:bodyPr wrap="square" rtlCol="0" anchor="ctr"/>
          <a:lstStyle/>
          <a:p>
            <a:pPr marL="0" indent="0">
              <a:buNone/>
            </a:pPr>
            <a:r>
              <a:rPr lang="en-US" sz="900">
                <a:solidFill>
                  <a:srgbClr val="607D8B"/>
                </a:solidFill>
                <a:latin typeface="Calibri" pitchFamily="34" charset="0"/>
                <a:ea typeface="Calibri" pitchFamily="34" charset="-122"/>
                <a:cs typeface="Calibri" pitchFamily="34" charset="-120"/>
              </a:rPr>
              <a:t>Student Name</a:t>
            </a:r>
            <a:endParaRPr lang="en-US" sz="900"/>
          </a:p>
        </p:txBody>
      </p:sp>
      <p:sp>
        <p:nvSpPr>
          <p:cNvPr id="19" name="Text 17"/>
          <p:cNvSpPr/>
          <p:nvPr/>
        </p:nvSpPr>
        <p:spPr>
          <a:xfrm>
            <a:off x="777240" y="3794760"/>
            <a:ext cx="1828800" cy="228600"/>
          </a:xfrm>
          <a:prstGeom prst="rect">
            <a:avLst/>
          </a:prstGeom>
          <a:noFill/>
          <a:ln/>
        </p:spPr>
        <p:txBody>
          <a:bodyPr wrap="square" rtlCol="0" anchor="ctr"/>
          <a:lstStyle/>
          <a:p>
            <a:pPr marL="0" indent="0">
              <a:buNone/>
            </a:pPr>
            <a:r>
              <a:rPr lang="en-US" sz="1100" b="1" dirty="0">
                <a:solidFill>
                  <a:srgbClr val="1B3A8A"/>
                </a:solidFill>
                <a:latin typeface="Calibri" pitchFamily="34" charset="0"/>
                <a:ea typeface="Calibri" pitchFamily="34" charset="-122"/>
                <a:cs typeface="Calibri" pitchFamily="34" charset="-120"/>
              </a:rPr>
              <a:t>[Dr Rama Mokkarala]</a:t>
            </a:r>
            <a:endParaRPr lang="en-US" sz="1100" dirty="0"/>
          </a:p>
        </p:txBody>
      </p:sp>
      <p:sp>
        <p:nvSpPr>
          <p:cNvPr id="20" name="Shape 18"/>
          <p:cNvSpPr/>
          <p:nvPr/>
        </p:nvSpPr>
        <p:spPr>
          <a:xfrm>
            <a:off x="2834640" y="3611880"/>
            <a:ext cx="411480" cy="411480"/>
          </a:xfrm>
          <a:prstGeom prst="ellipse">
            <a:avLst/>
          </a:prstGeom>
          <a:solidFill>
            <a:srgbClr val="ECEFF1"/>
          </a:solidFill>
          <a:ln w="19050">
            <a:solidFill>
              <a:srgbClr val="1B3A8A"/>
            </a:solidFill>
            <a:prstDash val="solid"/>
          </a:ln>
        </p:spPr>
        <p:txBody>
          <a:bodyPr/>
          <a:lstStyle/>
          <a:p>
            <a:endParaRPr lang="en-IN"/>
          </a:p>
        </p:txBody>
      </p:sp>
      <p:sp>
        <p:nvSpPr>
          <p:cNvPr id="21" name="Text 19"/>
          <p:cNvSpPr/>
          <p:nvPr/>
        </p:nvSpPr>
        <p:spPr>
          <a:xfrm>
            <a:off x="2834640" y="3621024"/>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22" name="Text 20"/>
          <p:cNvSpPr/>
          <p:nvPr/>
        </p:nvSpPr>
        <p:spPr>
          <a:xfrm>
            <a:off x="3291840" y="3611880"/>
            <a:ext cx="1828800" cy="201168"/>
          </a:xfrm>
          <a:prstGeom prst="rect">
            <a:avLst/>
          </a:prstGeom>
          <a:noFill/>
          <a:ln/>
        </p:spPr>
        <p:txBody>
          <a:bodyPr wrap="square" rtlCol="0" anchor="ctr"/>
          <a:lstStyle/>
          <a:p>
            <a:pPr marL="0" indent="0">
              <a:buNone/>
            </a:pPr>
            <a:r>
              <a:rPr lang="en-US" sz="900">
                <a:solidFill>
                  <a:srgbClr val="607D8B"/>
                </a:solidFill>
                <a:latin typeface="Calibri" pitchFamily="34" charset="0"/>
                <a:ea typeface="Calibri" pitchFamily="34" charset="-122"/>
                <a:cs typeface="Calibri" pitchFamily="34" charset="-120"/>
              </a:rPr>
              <a:t>Student Email</a:t>
            </a:r>
            <a:endParaRPr lang="en-US" sz="900"/>
          </a:p>
        </p:txBody>
      </p:sp>
      <p:sp>
        <p:nvSpPr>
          <p:cNvPr id="23" name="Text 21"/>
          <p:cNvSpPr/>
          <p:nvPr/>
        </p:nvSpPr>
        <p:spPr>
          <a:xfrm>
            <a:off x="3291840" y="3794760"/>
            <a:ext cx="1828800" cy="228600"/>
          </a:xfrm>
          <a:prstGeom prst="rect">
            <a:avLst/>
          </a:prstGeom>
          <a:noFill/>
          <a:ln/>
        </p:spPr>
        <p:txBody>
          <a:bodyPr wrap="square" rtlCol="0" anchor="ctr"/>
          <a:lstStyle/>
          <a:p>
            <a:pPr marL="0" indent="0">
              <a:buNone/>
            </a:pPr>
            <a:r>
              <a:rPr lang="en-US" sz="1100" b="1" dirty="0">
                <a:solidFill>
                  <a:srgbClr val="1B3A8A"/>
                </a:solidFill>
                <a:latin typeface="Calibri" pitchFamily="34" charset="0"/>
                <a:ea typeface="Calibri" pitchFamily="34" charset="-122"/>
                <a:cs typeface="Calibri" pitchFamily="34" charset="-120"/>
              </a:rPr>
              <a:t>[chrama.24@gmail.com]</a:t>
            </a:r>
            <a:endParaRPr lang="en-US" sz="1100" dirty="0"/>
          </a:p>
        </p:txBody>
      </p:sp>
      <p:sp>
        <p:nvSpPr>
          <p:cNvPr id="24" name="Shape 22"/>
          <p:cNvSpPr/>
          <p:nvPr/>
        </p:nvSpPr>
        <p:spPr>
          <a:xfrm>
            <a:off x="277722" y="4384041"/>
            <a:ext cx="411480" cy="411480"/>
          </a:xfrm>
          <a:prstGeom prst="ellipse">
            <a:avLst/>
          </a:prstGeom>
          <a:solidFill>
            <a:srgbClr val="ECEFF1"/>
          </a:solidFill>
          <a:ln w="19050">
            <a:solidFill>
              <a:srgbClr val="1B3A8A"/>
            </a:solidFill>
            <a:prstDash val="solid"/>
          </a:ln>
        </p:spPr>
        <p:txBody>
          <a:bodyPr/>
          <a:lstStyle/>
          <a:p>
            <a:endParaRPr lang="en-IN"/>
          </a:p>
        </p:txBody>
      </p:sp>
      <p:sp>
        <p:nvSpPr>
          <p:cNvPr id="25" name="Text 23"/>
          <p:cNvSpPr/>
          <p:nvPr/>
        </p:nvSpPr>
        <p:spPr>
          <a:xfrm>
            <a:off x="277722" y="4393185"/>
            <a:ext cx="411480" cy="393192"/>
          </a:xfrm>
          <a:prstGeom prst="rect">
            <a:avLst/>
          </a:prstGeom>
          <a:noFill/>
          <a:ln/>
        </p:spPr>
        <p:txBody>
          <a:bodyPr wrap="square" rtlCol="0" anchor="ctr"/>
          <a:lstStyle/>
          <a:p>
            <a:pPr marL="0" indent="0" algn="ctr">
              <a:buNone/>
            </a:pPr>
            <a:r>
              <a:rPr lang="en-US" sz="1600">
                <a:solidFill>
                  <a:srgbClr val="000000"/>
                </a:solidFill>
              </a:rPr>
              <a:t>📖</a:t>
            </a:r>
            <a:endParaRPr lang="en-US" sz="1600"/>
          </a:p>
        </p:txBody>
      </p:sp>
      <p:sp>
        <p:nvSpPr>
          <p:cNvPr id="27" name="Text 25"/>
          <p:cNvSpPr/>
          <p:nvPr/>
        </p:nvSpPr>
        <p:spPr>
          <a:xfrm>
            <a:off x="782333" y="4478866"/>
            <a:ext cx="1828800" cy="228600"/>
          </a:xfrm>
          <a:prstGeom prst="rect">
            <a:avLst/>
          </a:prstGeom>
          <a:noFill/>
          <a:ln/>
        </p:spPr>
        <p:txBody>
          <a:bodyPr wrap="square" rtlCol="0" anchor="ctr"/>
          <a:lstStyle/>
          <a:p>
            <a:pPr marL="0" indent="0">
              <a:buNone/>
            </a:pPr>
            <a:r>
              <a:rPr lang="en-US" sz="1100" b="1" dirty="0">
                <a:solidFill>
                  <a:srgbClr val="1B3A8A"/>
                </a:solidFill>
                <a:latin typeface="Calibri" pitchFamily="34" charset="0"/>
                <a:ea typeface="Calibri" pitchFamily="34" charset="-122"/>
                <a:cs typeface="Calibri" pitchFamily="34" charset="-120"/>
              </a:rPr>
              <a:t>[</a:t>
            </a:r>
            <a:r>
              <a:rPr lang="en-US" sz="1100" b="1" dirty="0" err="1">
                <a:solidFill>
                  <a:srgbClr val="1B3A8A"/>
                </a:solidFill>
                <a:latin typeface="Calibri" pitchFamily="34" charset="0"/>
                <a:ea typeface="Calibri" pitchFamily="34" charset="-122"/>
                <a:cs typeface="Calibri" pitchFamily="34" charset="-120"/>
              </a:rPr>
              <a:t>Mr</a:t>
            </a:r>
            <a:r>
              <a:rPr lang="en-US" sz="1100" b="1" dirty="0">
                <a:solidFill>
                  <a:srgbClr val="1B3A8A"/>
                </a:solidFill>
                <a:latin typeface="Calibri" pitchFamily="34" charset="0"/>
                <a:ea typeface="Calibri" pitchFamily="34" charset="-122"/>
                <a:cs typeface="Calibri" pitchFamily="34" charset="-120"/>
              </a:rPr>
              <a:t> Adarsh]</a:t>
            </a:r>
            <a:endParaRPr lang="en-US" sz="1100" dirty="0"/>
          </a:p>
        </p:txBody>
      </p:sp>
      <p:sp>
        <p:nvSpPr>
          <p:cNvPr id="28" name="Shape 26"/>
          <p:cNvSpPr/>
          <p:nvPr/>
        </p:nvSpPr>
        <p:spPr>
          <a:xfrm>
            <a:off x="0" y="4983480"/>
            <a:ext cx="9144000" cy="160020"/>
          </a:xfrm>
          <a:prstGeom prst="rect">
            <a:avLst/>
          </a:prstGeom>
          <a:solidFill>
            <a:srgbClr val="1B3A8A"/>
          </a:solidFill>
          <a:ln/>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OUTLINE</a:t>
            </a:r>
            <a:endParaRPr lang="en-US" sz="2200"/>
          </a:p>
        </p:txBody>
      </p:sp>
      <p:sp>
        <p:nvSpPr>
          <p:cNvPr id="5" name="Shape 3"/>
          <p:cNvSpPr/>
          <p:nvPr/>
        </p:nvSpPr>
        <p:spPr>
          <a:xfrm>
            <a:off x="0" y="4983480"/>
            <a:ext cx="9144000" cy="160020"/>
          </a:xfrm>
          <a:prstGeom prst="rect">
            <a:avLst/>
          </a:prstGeom>
          <a:solidFill>
            <a:srgbClr val="1B3A8A"/>
          </a:solidFill>
          <a:ln/>
        </p:spPr>
        <p:txBody>
          <a:bodyPr/>
          <a:lstStyle/>
          <a:p>
            <a:endParaRPr lang="en-IN"/>
          </a:p>
        </p:txBody>
      </p:sp>
      <p:sp>
        <p:nvSpPr>
          <p:cNvPr id="6" name="Text 4"/>
          <p:cNvSpPr/>
          <p:nvPr/>
        </p:nvSpPr>
        <p:spPr>
          <a:xfrm>
            <a:off x="457200" y="1234440"/>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Abstract of the Project</a:t>
            </a:r>
            <a:endParaRPr lang="en-US" sz="1300"/>
          </a:p>
        </p:txBody>
      </p:sp>
      <p:sp>
        <p:nvSpPr>
          <p:cNvPr id="7" name="Text 5"/>
          <p:cNvSpPr/>
          <p:nvPr/>
        </p:nvSpPr>
        <p:spPr>
          <a:xfrm>
            <a:off x="457200" y="1664208"/>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Problem Statement</a:t>
            </a:r>
            <a:endParaRPr lang="en-US" sz="1300"/>
          </a:p>
        </p:txBody>
      </p:sp>
      <p:sp>
        <p:nvSpPr>
          <p:cNvPr id="8" name="Text 6"/>
          <p:cNvSpPr/>
          <p:nvPr/>
        </p:nvSpPr>
        <p:spPr>
          <a:xfrm>
            <a:off x="457200" y="2093976"/>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Proposed Solution</a:t>
            </a:r>
            <a:endParaRPr lang="en-US" sz="1300"/>
          </a:p>
        </p:txBody>
      </p:sp>
      <p:sp>
        <p:nvSpPr>
          <p:cNvPr id="9" name="Text 7"/>
          <p:cNvSpPr/>
          <p:nvPr/>
        </p:nvSpPr>
        <p:spPr>
          <a:xfrm>
            <a:off x="457200" y="2523744"/>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System Architecture</a:t>
            </a:r>
            <a:endParaRPr lang="en-US" sz="1300"/>
          </a:p>
        </p:txBody>
      </p:sp>
      <p:sp>
        <p:nvSpPr>
          <p:cNvPr id="10" name="Text 8"/>
          <p:cNvSpPr/>
          <p:nvPr/>
        </p:nvSpPr>
        <p:spPr>
          <a:xfrm>
            <a:off x="457200" y="2953512"/>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Live Demo of the Project</a:t>
            </a:r>
            <a:endParaRPr lang="en-US" sz="1300"/>
          </a:p>
        </p:txBody>
      </p:sp>
      <p:sp>
        <p:nvSpPr>
          <p:cNvPr id="11" name="Text 9"/>
          <p:cNvSpPr/>
          <p:nvPr/>
        </p:nvSpPr>
        <p:spPr>
          <a:xfrm>
            <a:off x="457200" y="3383280"/>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Embedded Video of Project</a:t>
            </a:r>
            <a:endParaRPr lang="en-US" sz="1300"/>
          </a:p>
        </p:txBody>
      </p:sp>
      <p:sp>
        <p:nvSpPr>
          <p:cNvPr id="12" name="Text 10"/>
          <p:cNvSpPr/>
          <p:nvPr/>
        </p:nvSpPr>
        <p:spPr>
          <a:xfrm>
            <a:off x="457200" y="3813048"/>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Conclusion</a:t>
            </a:r>
            <a:endParaRPr lang="en-US" sz="1300"/>
          </a:p>
        </p:txBody>
      </p:sp>
      <p:sp>
        <p:nvSpPr>
          <p:cNvPr id="13" name="Text 11"/>
          <p:cNvSpPr/>
          <p:nvPr/>
        </p:nvSpPr>
        <p:spPr>
          <a:xfrm>
            <a:off x="457200" y="4242816"/>
            <a:ext cx="4389120" cy="402336"/>
          </a:xfrm>
          <a:prstGeom prst="rect">
            <a:avLst/>
          </a:prstGeom>
          <a:noFill/>
          <a:ln/>
        </p:spPr>
        <p:txBody>
          <a:bodyPr wrap="square" rtlCol="0" anchor="ctr"/>
          <a:lstStyle/>
          <a:p>
            <a:pPr marL="0" indent="0">
              <a:buNone/>
            </a:pPr>
            <a:r>
              <a:rPr lang="en-US" sz="1300" b="1">
                <a:solidFill>
                  <a:srgbClr val="1565C0"/>
                </a:solidFill>
                <a:latin typeface="Calibri" pitchFamily="34" charset="0"/>
                <a:ea typeface="Calibri" pitchFamily="34" charset="-122"/>
                <a:cs typeface="Calibri" pitchFamily="34" charset="-120"/>
              </a:rPr>
              <a:t>• </a:t>
            </a:r>
            <a:r>
              <a:rPr lang="en-US" sz="1300">
                <a:solidFill>
                  <a:srgbClr val="1A1A2E"/>
                </a:solidFill>
                <a:latin typeface="Calibri" pitchFamily="34" charset="0"/>
                <a:ea typeface="Calibri" pitchFamily="34" charset="-122"/>
                <a:cs typeface="Calibri" pitchFamily="34" charset="-120"/>
              </a:rPr>
              <a:t>Future Scope</a:t>
            </a:r>
            <a:endParaRPr lang="en-US" sz="13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Abstract</a:t>
            </a:r>
            <a:endParaRPr lang="en-US" sz="2200"/>
          </a:p>
        </p:txBody>
      </p:sp>
      <p:sp>
        <p:nvSpPr>
          <p:cNvPr id="5" name="Shape 3"/>
          <p:cNvSpPr/>
          <p:nvPr/>
        </p:nvSpPr>
        <p:spPr>
          <a:xfrm>
            <a:off x="0" y="4983480"/>
            <a:ext cx="9144000" cy="160020"/>
          </a:xfrm>
          <a:prstGeom prst="rect">
            <a:avLst/>
          </a:prstGeom>
          <a:solidFill>
            <a:srgbClr val="1B3A8A"/>
          </a:solidFill>
          <a:ln/>
        </p:spPr>
        <p:txBody>
          <a:bodyPr/>
          <a:lstStyle/>
          <a:p>
            <a:endParaRPr lang="en-IN"/>
          </a:p>
        </p:txBody>
      </p:sp>
      <p:sp>
        <p:nvSpPr>
          <p:cNvPr id="19" name="Text 12">
            <a:extLst>
              <a:ext uri="{FF2B5EF4-FFF2-40B4-BE49-F238E27FC236}">
                <a16:creationId xmlns:a16="http://schemas.microsoft.com/office/drawing/2014/main" id="{7BA53C9D-AAA2-05C7-14B1-F7DA481CA53F}"/>
              </a:ext>
            </a:extLst>
          </p:cNvPr>
          <p:cNvSpPr/>
          <p:nvPr/>
        </p:nvSpPr>
        <p:spPr>
          <a:xfrm>
            <a:off x="457200" y="1060703"/>
            <a:ext cx="7817556" cy="928627"/>
          </a:xfrm>
          <a:prstGeom prst="rect">
            <a:avLst/>
          </a:prstGeom>
          <a:noFill/>
          <a:ln/>
        </p:spPr>
        <p:txBody>
          <a:bodyPr wrap="square" rtlCol="0" anchor="ctr"/>
          <a:lstStyle/>
          <a:p>
            <a:pPr algn="just"/>
            <a:r>
              <a:rPr lang="en-US" sz="1300" b="1" dirty="0">
                <a:solidFill>
                  <a:srgbClr val="1565C0"/>
                </a:solidFill>
                <a:latin typeface="Calibri" pitchFamily="34" charset="0"/>
                <a:ea typeface="Calibri" pitchFamily="34" charset="-122"/>
                <a:cs typeface="Calibri" pitchFamily="34" charset="-120"/>
              </a:rPr>
              <a:t>• </a:t>
            </a:r>
            <a:r>
              <a:rPr lang="en-US" sz="1400" b="1" dirty="0">
                <a:solidFill>
                  <a:srgbClr val="1565C0"/>
                </a:solidFill>
                <a:latin typeface="Calibri" pitchFamily="34" charset="0"/>
                <a:ea typeface="Calibri" pitchFamily="34" charset="-122"/>
                <a:cs typeface="Calibri" pitchFamily="34" charset="-120"/>
              </a:rPr>
              <a:t>Purpose of the Project</a:t>
            </a:r>
            <a:r>
              <a:rPr lang="en-US" sz="1300" b="1" dirty="0">
                <a:solidFill>
                  <a:srgbClr val="1565C0"/>
                </a:solidFill>
                <a:latin typeface="Calibri" pitchFamily="34" charset="0"/>
                <a:ea typeface="Calibri" pitchFamily="34" charset="-122"/>
                <a:cs typeface="Calibri" pitchFamily="34" charset="-120"/>
              </a:rPr>
              <a:t>:</a:t>
            </a:r>
            <a:r>
              <a:rPr lang="en-IN" sz="1400" dirty="0"/>
              <a:t>The current  project develops a unified dataset that consolidates all components of faculty workload, quantifies imbalances at individual and departmental levels, and proposes redistribution strategies to enhance equity and protect research time</a:t>
            </a:r>
            <a:endParaRPr lang="en-US" sz="1400" dirty="0"/>
          </a:p>
        </p:txBody>
      </p:sp>
      <p:sp>
        <p:nvSpPr>
          <p:cNvPr id="20" name="Text 13">
            <a:extLst>
              <a:ext uri="{FF2B5EF4-FFF2-40B4-BE49-F238E27FC236}">
                <a16:creationId xmlns:a16="http://schemas.microsoft.com/office/drawing/2014/main" id="{FBB90A13-7196-D2E6-20B4-845F03152899}"/>
              </a:ext>
            </a:extLst>
          </p:cNvPr>
          <p:cNvSpPr/>
          <p:nvPr/>
        </p:nvSpPr>
        <p:spPr>
          <a:xfrm>
            <a:off x="1845733" y="3302338"/>
            <a:ext cx="4114800" cy="402336"/>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 </a:t>
            </a:r>
          </a:p>
          <a:p>
            <a:pPr marL="0" indent="0">
              <a:buNone/>
            </a:pPr>
            <a:endParaRPr lang="en-US" sz="1300" b="1" dirty="0">
              <a:solidFill>
                <a:srgbClr val="1565C0"/>
              </a:solidFill>
              <a:latin typeface="Calibri" pitchFamily="34" charset="0"/>
              <a:ea typeface="Calibri" pitchFamily="34" charset="-122"/>
              <a:cs typeface="Calibri" pitchFamily="34" charset="-120"/>
            </a:endParaRPr>
          </a:p>
          <a:p>
            <a:pPr marL="0" indent="0">
              <a:buNone/>
            </a:pPr>
            <a:endParaRPr lang="en-US" sz="1300" b="1" dirty="0">
              <a:solidFill>
                <a:srgbClr val="1565C0"/>
              </a:solidFill>
              <a:latin typeface="Calibri" pitchFamily="34" charset="0"/>
              <a:ea typeface="Calibri" pitchFamily="34" charset="-122"/>
              <a:cs typeface="Calibri" pitchFamily="34" charset="-120"/>
            </a:endParaRPr>
          </a:p>
          <a:p>
            <a:pPr marL="0" indent="0">
              <a:buNone/>
            </a:pPr>
            <a:endParaRPr lang="en-US" sz="1300" b="1" dirty="0">
              <a:solidFill>
                <a:srgbClr val="1565C0"/>
              </a:solidFill>
              <a:latin typeface="Calibri" pitchFamily="34" charset="0"/>
              <a:ea typeface="Calibri" pitchFamily="34" charset="-122"/>
              <a:cs typeface="Calibri" pitchFamily="34" charset="-120"/>
            </a:endParaRPr>
          </a:p>
          <a:p>
            <a:pPr marL="0" indent="0">
              <a:buNone/>
            </a:pPr>
            <a:endParaRPr lang="en-US" sz="1300" b="1" dirty="0">
              <a:solidFill>
                <a:srgbClr val="1565C0"/>
              </a:solidFill>
              <a:latin typeface="Calibri" pitchFamily="34" charset="0"/>
              <a:ea typeface="Calibri" pitchFamily="34" charset="-122"/>
              <a:cs typeface="Calibri" pitchFamily="34" charset="-120"/>
            </a:endParaRPr>
          </a:p>
          <a:p>
            <a:pPr marL="0" indent="0">
              <a:buNone/>
            </a:pPr>
            <a:r>
              <a:rPr lang="en-US" sz="1300" dirty="0">
                <a:solidFill>
                  <a:srgbClr val="1A1A2E"/>
                </a:solidFill>
                <a:latin typeface="Calibri" pitchFamily="34" charset="0"/>
                <a:ea typeface="Calibri" pitchFamily="34" charset="-122"/>
                <a:cs typeface="Calibri" pitchFamily="34" charset="-120"/>
              </a:rPr>
              <a:t>.</a:t>
            </a:r>
            <a:endParaRPr lang="en-US" sz="1300" dirty="0"/>
          </a:p>
        </p:txBody>
      </p:sp>
      <p:sp>
        <p:nvSpPr>
          <p:cNvPr id="21" name="Text 14">
            <a:extLst>
              <a:ext uri="{FF2B5EF4-FFF2-40B4-BE49-F238E27FC236}">
                <a16:creationId xmlns:a16="http://schemas.microsoft.com/office/drawing/2014/main" id="{4BCD0967-8763-EBD0-918B-8930803EE40C}"/>
              </a:ext>
            </a:extLst>
          </p:cNvPr>
          <p:cNvSpPr/>
          <p:nvPr/>
        </p:nvSpPr>
        <p:spPr>
          <a:xfrm>
            <a:off x="496711" y="2077042"/>
            <a:ext cx="7738534" cy="402336"/>
          </a:xfrm>
          <a:prstGeom prst="rect">
            <a:avLst/>
          </a:prstGeom>
          <a:noFill/>
          <a:ln/>
        </p:spPr>
        <p:txBody>
          <a:bodyPr wrap="square" rtlCol="0" anchor="ctr"/>
          <a:lstStyle/>
          <a:p>
            <a:pPr marL="0" indent="0">
              <a:buNone/>
            </a:pPr>
            <a:r>
              <a:rPr lang="en-US" dirty="0">
                <a:solidFill>
                  <a:srgbClr val="1565C0"/>
                </a:solidFill>
                <a:latin typeface="Calibri" pitchFamily="34" charset="0"/>
                <a:ea typeface="Calibri" pitchFamily="34" charset="-122"/>
                <a:cs typeface="Calibri" pitchFamily="34" charset="-120"/>
              </a:rPr>
              <a:t>• </a:t>
            </a:r>
            <a:r>
              <a:rPr lang="en-US" sz="1400" dirty="0">
                <a:solidFill>
                  <a:srgbClr val="1565C0"/>
                </a:solidFill>
                <a:latin typeface="Calibri" pitchFamily="34" charset="0"/>
                <a:ea typeface="Calibri" pitchFamily="34" charset="-122"/>
                <a:cs typeface="Calibri" pitchFamily="34" charset="-120"/>
              </a:rPr>
              <a:t>Tools &amp; Technologies Used: </a:t>
            </a:r>
            <a:r>
              <a:rPr lang="en-US" sz="1400" dirty="0">
                <a:solidFill>
                  <a:srgbClr val="1A1A2E"/>
                </a:solidFill>
                <a:latin typeface="Calibri" pitchFamily="34" charset="0"/>
                <a:ea typeface="Calibri" pitchFamily="34" charset="-122"/>
                <a:cs typeface="Calibri" pitchFamily="34" charset="-120"/>
              </a:rPr>
              <a:t>Excel + Power BI + Copilot are used</a:t>
            </a:r>
            <a:endParaRPr lang="en-US" sz="1400" dirty="0"/>
          </a:p>
        </p:txBody>
      </p:sp>
      <p:sp>
        <p:nvSpPr>
          <p:cNvPr id="22" name="Text 15">
            <a:extLst>
              <a:ext uri="{FF2B5EF4-FFF2-40B4-BE49-F238E27FC236}">
                <a16:creationId xmlns:a16="http://schemas.microsoft.com/office/drawing/2014/main" id="{A079AF38-4D82-61EA-A6DE-714C1225E65B}"/>
              </a:ext>
            </a:extLst>
          </p:cNvPr>
          <p:cNvSpPr/>
          <p:nvPr/>
        </p:nvSpPr>
        <p:spPr>
          <a:xfrm>
            <a:off x="536222" y="2619246"/>
            <a:ext cx="8013418" cy="928626"/>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 Outcomes: </a:t>
            </a:r>
            <a:r>
              <a:rPr lang="en-US" sz="1300" dirty="0">
                <a:solidFill>
                  <a:srgbClr val="1A1A2E"/>
                </a:solidFill>
                <a:latin typeface="Calibri" pitchFamily="34" charset="0"/>
                <a:ea typeface="Calibri" pitchFamily="34" charset="-122"/>
                <a:cs typeface="Calibri" pitchFamily="34" charset="-120"/>
              </a:rPr>
              <a:t>A Unified and cleaned Dataset. The dataset to be used to build an interactive Dashboard visualizing the distribution at individual and Departmental levels. </a:t>
            </a:r>
            <a:r>
              <a:rPr lang="en-IN" sz="1400" dirty="0"/>
              <a:t>The analysis identifies specific faculty and departments for potential redistribution and models how reallocating service duties can increase available research hours</a:t>
            </a:r>
            <a:r>
              <a:rPr lang="en-IN" dirty="0"/>
              <a:t>.</a:t>
            </a:r>
          </a:p>
          <a:p>
            <a:pPr marL="0" indent="0">
              <a:buNone/>
            </a:pPr>
            <a:endParaRPr lang="en-US" sz="1300" dirty="0"/>
          </a:p>
        </p:txBody>
      </p:sp>
      <p:sp>
        <p:nvSpPr>
          <p:cNvPr id="23" name="Text 16">
            <a:extLst>
              <a:ext uri="{FF2B5EF4-FFF2-40B4-BE49-F238E27FC236}">
                <a16:creationId xmlns:a16="http://schemas.microsoft.com/office/drawing/2014/main" id="{E42052B7-1005-7C95-89EC-CBD8D61EEAEE}"/>
              </a:ext>
            </a:extLst>
          </p:cNvPr>
          <p:cNvSpPr/>
          <p:nvPr/>
        </p:nvSpPr>
        <p:spPr>
          <a:xfrm>
            <a:off x="592666" y="3547872"/>
            <a:ext cx="7546623" cy="979762"/>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 Key Aspect: C</a:t>
            </a:r>
            <a:r>
              <a:rPr lang="en-IN" sz="1400" dirty="0"/>
              <a:t>comprehensive workload summaries that consolidate all teaching and service components are essential to prevent faculty burnout and to foster research productivity. Adoption of the project’s metrics and redistribution recommendations will enable fairer workload allocation and strengthen departmental research capacity</a:t>
            </a:r>
            <a:r>
              <a:rPr lang="en-US" sz="1300" dirty="0">
                <a:solidFill>
                  <a:srgbClr val="1A1A2E"/>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Problem Statement</a:t>
            </a:r>
            <a:endParaRPr lang="en-US" sz="2200"/>
          </a:p>
        </p:txBody>
      </p:sp>
      <p:sp>
        <p:nvSpPr>
          <p:cNvPr id="5" name="Shape 3"/>
          <p:cNvSpPr/>
          <p:nvPr/>
        </p:nvSpPr>
        <p:spPr>
          <a:xfrm>
            <a:off x="0" y="4983480"/>
            <a:ext cx="9144000" cy="160020"/>
          </a:xfrm>
          <a:prstGeom prst="rect">
            <a:avLst/>
          </a:prstGeom>
          <a:solidFill>
            <a:srgbClr val="1B3A8A"/>
          </a:solidFill>
          <a:ln/>
        </p:spPr>
        <p:txBody>
          <a:bodyPr/>
          <a:lstStyle/>
          <a:p>
            <a:endParaRPr lang="en-IN"/>
          </a:p>
        </p:txBody>
      </p:sp>
      <p:sp>
        <p:nvSpPr>
          <p:cNvPr id="14" name="Text 12"/>
          <p:cNvSpPr/>
          <p:nvPr/>
        </p:nvSpPr>
        <p:spPr>
          <a:xfrm>
            <a:off x="457200" y="1033272"/>
            <a:ext cx="8092440" cy="749808"/>
          </a:xfrm>
          <a:prstGeom prst="rect">
            <a:avLst/>
          </a:prstGeom>
          <a:noFill/>
          <a:ln/>
        </p:spPr>
        <p:txBody>
          <a:bodyPr wrap="square" rtlCol="0" anchor="ctr"/>
          <a:lstStyle/>
          <a:p>
            <a:pPr algn="just"/>
            <a:r>
              <a:rPr lang="en-US" sz="1300" b="1" dirty="0">
                <a:solidFill>
                  <a:srgbClr val="1565C0"/>
                </a:solidFill>
                <a:latin typeface="Calibri" pitchFamily="34" charset="0"/>
                <a:ea typeface="Calibri" pitchFamily="34" charset="-122"/>
                <a:cs typeface="Calibri" pitchFamily="34" charset="-120"/>
              </a:rPr>
              <a:t>• Core Problem: </a:t>
            </a:r>
            <a:r>
              <a:rPr lang="en-IN" sz="1400" dirty="0"/>
              <a:t>Institutions lack a unified and data-driven mechanism to evaluate and balance faculty workload across teaching, research, and administrative responsibilities. Existing workload allocation practices are fragmented, manually managed, and often based on static timetables or subjective judgment. </a:t>
            </a:r>
            <a:r>
              <a:rPr lang="en-US" sz="1300" dirty="0">
                <a:solidFill>
                  <a:srgbClr val="1A1A2E"/>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388620" y="1883664"/>
            <a:ext cx="8092439" cy="688086"/>
          </a:xfrm>
          <a:prstGeom prst="rect">
            <a:avLst/>
          </a:prstGeom>
          <a:noFill/>
          <a:ln/>
        </p:spPr>
        <p:txBody>
          <a:bodyPr wrap="square" rtlCol="0" anchor="ctr"/>
          <a:lstStyle/>
          <a:p>
            <a:r>
              <a:rPr lang="en-US" sz="1300" b="1" dirty="0">
                <a:solidFill>
                  <a:srgbClr val="1565C0"/>
                </a:solidFill>
                <a:latin typeface="Calibri" pitchFamily="34" charset="0"/>
                <a:ea typeface="Calibri" pitchFamily="34" charset="-122"/>
                <a:cs typeface="Calibri" pitchFamily="34" charset="-120"/>
              </a:rPr>
              <a:t>• Significance of Problem: </a:t>
            </a:r>
            <a:r>
              <a:rPr lang="en-IN" sz="1400" dirty="0"/>
              <a:t>The absence of a centralized analytical system prevents institutions from identifying workload imbalances, benchmarking against expected norms, and making informed redistribution decisions</a:t>
            </a:r>
            <a:r>
              <a:rPr lang="en-IN" dirty="0"/>
              <a:t>. </a:t>
            </a:r>
            <a:r>
              <a:rPr lang="en-US" sz="1300" dirty="0">
                <a:solidFill>
                  <a:srgbClr val="1A1A2E"/>
                </a:solidFill>
                <a:latin typeface="Calibri" pitchFamily="34" charset="0"/>
                <a:ea typeface="Calibri" pitchFamily="34" charset="-122"/>
                <a:cs typeface="Calibri" pitchFamily="34" charset="-120"/>
              </a:rPr>
              <a:t>.</a:t>
            </a:r>
            <a:endParaRPr lang="en-US" sz="1300" dirty="0"/>
          </a:p>
        </p:txBody>
      </p:sp>
      <p:sp>
        <p:nvSpPr>
          <p:cNvPr id="16" name="Text 14"/>
          <p:cNvSpPr/>
          <p:nvPr/>
        </p:nvSpPr>
        <p:spPr>
          <a:xfrm>
            <a:off x="388620" y="2496312"/>
            <a:ext cx="7944837" cy="402336"/>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 Affected: </a:t>
            </a:r>
            <a:r>
              <a:rPr lang="en-US" sz="1400" dirty="0">
                <a:latin typeface="Calibri" pitchFamily="34" charset="0"/>
                <a:ea typeface="Calibri" pitchFamily="34" charset="-122"/>
                <a:cs typeface="Calibri" pitchFamily="34" charset="-120"/>
              </a:rPr>
              <a:t>Faculty members of higher Education institutions</a:t>
            </a:r>
            <a:endParaRPr lang="en-US" sz="1400" dirty="0"/>
          </a:p>
        </p:txBody>
      </p:sp>
      <p:sp>
        <p:nvSpPr>
          <p:cNvPr id="17" name="Text 15"/>
          <p:cNvSpPr/>
          <p:nvPr/>
        </p:nvSpPr>
        <p:spPr>
          <a:xfrm>
            <a:off x="457200" y="2992374"/>
            <a:ext cx="4114800" cy="402336"/>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 </a:t>
            </a:r>
            <a:r>
              <a:rPr lang="en-US" sz="1300" dirty="0">
                <a:solidFill>
                  <a:srgbClr val="1A1A2E"/>
                </a:solidFill>
                <a:latin typeface="Calibri" pitchFamily="34" charset="0"/>
                <a:ea typeface="Calibri" pitchFamily="34" charset="-122"/>
                <a:cs typeface="Calibri" pitchFamily="34" charset="-120"/>
              </a:rPr>
              <a:t>State limitations of existing approaches or tools.</a:t>
            </a:r>
            <a:endParaRPr lang="en-US" sz="1300" dirty="0"/>
          </a:p>
        </p:txBody>
      </p:sp>
      <p:sp>
        <p:nvSpPr>
          <p:cNvPr id="18" name="Text 16"/>
          <p:cNvSpPr/>
          <p:nvPr/>
        </p:nvSpPr>
        <p:spPr>
          <a:xfrm>
            <a:off x="428131" y="3648456"/>
            <a:ext cx="8229600" cy="873252"/>
          </a:xfrm>
          <a:prstGeom prst="rect">
            <a:avLst/>
          </a:prstGeom>
          <a:noFill/>
          <a:ln/>
        </p:spPr>
        <p:txBody>
          <a:bodyPr wrap="square" rtlCol="0" anchor="ctr"/>
          <a:lstStyle/>
          <a:p>
            <a:endParaRPr lang="en-US" sz="1300" b="1" dirty="0">
              <a:solidFill>
                <a:srgbClr val="1565C0"/>
              </a:solidFill>
              <a:latin typeface="Calibri" pitchFamily="34" charset="0"/>
              <a:ea typeface="Calibri" pitchFamily="34" charset="-122"/>
              <a:cs typeface="Calibri" pitchFamily="34" charset="-120"/>
            </a:endParaRPr>
          </a:p>
          <a:p>
            <a:r>
              <a:rPr lang="en-US" sz="1300" b="1" dirty="0">
                <a:solidFill>
                  <a:srgbClr val="1565C0"/>
                </a:solidFill>
                <a:latin typeface="Calibri" pitchFamily="34" charset="0"/>
                <a:ea typeface="Calibri" pitchFamily="34" charset="-122"/>
                <a:cs typeface="Calibri" pitchFamily="34" charset="-120"/>
              </a:rPr>
              <a:t>Scope : </a:t>
            </a:r>
            <a:r>
              <a:rPr lang="en-US" sz="1400" dirty="0"/>
              <a:t>The analysis focuses on  Unified Real Time Data collection, data cleaning, visualization, report generation, and AI assisted insights generation using prompt engineering.</a:t>
            </a:r>
          </a:p>
          <a:p>
            <a:r>
              <a:rPr lang="en-US" sz="1400" b="1" dirty="0">
                <a:solidFill>
                  <a:srgbClr val="0070C0"/>
                </a:solidFill>
              </a:rPr>
              <a:t>Boundaries</a:t>
            </a:r>
            <a:r>
              <a:rPr lang="en-US" sz="1400" dirty="0"/>
              <a:t>: </a:t>
            </a:r>
            <a:r>
              <a:rPr lang="en-IN" sz="1400" dirty="0"/>
              <a:t>The project does not include the simulated what -if scenarios and real time data integration</a:t>
            </a:r>
            <a:r>
              <a:rPr lang="en-IN" dirty="0"/>
              <a:t>. </a:t>
            </a:r>
          </a:p>
          <a:p>
            <a:endParaRPr lang="en-IN" sz="1400" dirty="0"/>
          </a:p>
          <a:p>
            <a:pPr marL="0" indent="0">
              <a:buNone/>
            </a:pPr>
            <a:r>
              <a:rPr lang="en-US" sz="1300" dirty="0">
                <a:solidFill>
                  <a:srgbClr val="1A1A2E"/>
                </a:solidFill>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407811"/>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286173" y="481471"/>
            <a:ext cx="8229600" cy="286117"/>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Proposed Solution</a:t>
            </a:r>
            <a:endParaRPr lang="en-US" sz="2200" dirty="0"/>
          </a:p>
        </p:txBody>
      </p:sp>
      <p:sp>
        <p:nvSpPr>
          <p:cNvPr id="5" name="Shape 3"/>
          <p:cNvSpPr/>
          <p:nvPr/>
        </p:nvSpPr>
        <p:spPr>
          <a:xfrm>
            <a:off x="0" y="4983480"/>
            <a:ext cx="9144000" cy="160020"/>
          </a:xfrm>
          <a:prstGeom prst="rect">
            <a:avLst/>
          </a:prstGeom>
          <a:solidFill>
            <a:srgbClr val="1B3A8A"/>
          </a:solidFill>
          <a:ln/>
        </p:spPr>
        <p:txBody>
          <a:bodyPr/>
          <a:lstStyle/>
          <a:p>
            <a:endParaRPr lang="en-IN"/>
          </a:p>
        </p:txBody>
      </p:sp>
      <p:sp>
        <p:nvSpPr>
          <p:cNvPr id="14" name="Text 12"/>
          <p:cNvSpPr/>
          <p:nvPr/>
        </p:nvSpPr>
        <p:spPr>
          <a:xfrm>
            <a:off x="91440" y="791859"/>
            <a:ext cx="9052560" cy="4303381"/>
          </a:xfrm>
          <a:prstGeom prst="rect">
            <a:avLst/>
          </a:prstGeom>
          <a:noFill/>
          <a:ln/>
        </p:spPr>
        <p:txBody>
          <a:bodyPr wrap="square" rtlCol="0" anchor="t"/>
          <a:lstStyle/>
          <a:p>
            <a:pPr marL="171450" lvl="0" indent="-171450">
              <a:buFont typeface="Arial" panose="020B0604020202020204" pitchFamily="34" charset="0"/>
              <a:buChar char="•"/>
            </a:pPr>
            <a:r>
              <a:rPr lang="en-IN" sz="1400" dirty="0"/>
              <a:t>To develop a unified dataset capturing faculty teaching, research, and administrative responsibilities for accurate workload analysis.</a:t>
            </a:r>
          </a:p>
          <a:p>
            <a:pPr marL="171450" lvl="0" indent="-171450">
              <a:buFont typeface="Arial" panose="020B0604020202020204" pitchFamily="34" charset="0"/>
              <a:buChar char="•"/>
            </a:pPr>
            <a:r>
              <a:rPr lang="en-IN" sz="1400" dirty="0"/>
              <a:t>To clean and preprocess the workload data, removing inconsistencies, standardising categories, and ensuring completeness</a:t>
            </a:r>
          </a:p>
          <a:p>
            <a:pPr marL="171450" lvl="0" indent="-171450">
              <a:buFont typeface="Arial" panose="020B0604020202020204" pitchFamily="34" charset="0"/>
              <a:buChar char="•"/>
            </a:pPr>
            <a:r>
              <a:rPr lang="en-IN" sz="1400" dirty="0"/>
              <a:t>To design an interactive Power BI dashboard that visualizes workload distribution at individual &amp; departmental levels and  provides Teaching KPIS, Service Hours KPIs and Balance KPIs </a:t>
            </a:r>
          </a:p>
          <a:p>
            <a:pPr marL="171450" lvl="0" indent="-171450">
              <a:buFont typeface="Arial" panose="020B0604020202020204" pitchFamily="34" charset="0"/>
              <a:buChar char="•"/>
            </a:pPr>
            <a:r>
              <a:rPr lang="en-IN" sz="1400" dirty="0"/>
              <a:t>To integrate AI and generate workload summaries at individual and departmental levels that can highlight imbalances if any and facilitate predictive modelling</a:t>
            </a:r>
            <a:endParaRPr lang="en-US" sz="1400" dirty="0">
              <a:solidFill>
                <a:srgbClr val="1A1A2E"/>
              </a:solidFill>
              <a:latin typeface="Calibri" pitchFamily="34" charset="0"/>
              <a:ea typeface="Calibri" pitchFamily="34" charset="-122"/>
              <a:cs typeface="Calibri" pitchFamily="34" charset="-120"/>
            </a:endParaRPr>
          </a:p>
          <a:p>
            <a:pPr marL="0" indent="0">
              <a:buNone/>
            </a:pPr>
            <a:r>
              <a:rPr lang="en-US" sz="1300" dirty="0">
                <a:solidFill>
                  <a:srgbClr val="1A1A2E"/>
                </a:solidFill>
                <a:latin typeface="Calibri" pitchFamily="34" charset="0"/>
                <a:ea typeface="Calibri" pitchFamily="34" charset="-122"/>
                <a:cs typeface="Calibri" pitchFamily="34" charset="-120"/>
              </a:rPr>
              <a:t>	</a:t>
            </a:r>
          </a:p>
          <a:p>
            <a:pPr marL="0" indent="0">
              <a:buNone/>
            </a:pPr>
            <a:r>
              <a:rPr lang="en-US" sz="1300" dirty="0">
                <a:solidFill>
                  <a:srgbClr val="1A1A2E"/>
                </a:solidFill>
                <a:latin typeface="Calibri" pitchFamily="34" charset="0"/>
                <a:ea typeface="Calibri" pitchFamily="34" charset="-122"/>
                <a:cs typeface="Calibri" pitchFamily="34" charset="-120"/>
              </a:rPr>
              <a:t>Methodology &amp; Tools					Key Advantages</a:t>
            </a:r>
          </a:p>
          <a:p>
            <a:pPr marL="0" indent="0">
              <a:buNone/>
            </a:pPr>
            <a:endParaRPr lang="en-US" sz="1300" dirty="0">
              <a:solidFill>
                <a:srgbClr val="1A1A2E"/>
              </a:solidFill>
              <a:latin typeface="Calibri" pitchFamily="34" charset="0"/>
              <a:ea typeface="Calibri" pitchFamily="34" charset="-122"/>
              <a:cs typeface="Calibri" pitchFamily="34" charset="-120"/>
            </a:endParaRPr>
          </a:p>
          <a:p>
            <a:pPr marL="0" indent="0">
              <a:buNone/>
            </a:pPr>
            <a:r>
              <a:rPr lang="en-US" sz="1300" dirty="0">
                <a:solidFill>
                  <a:srgbClr val="1A1A2E"/>
                </a:solidFill>
                <a:latin typeface="Calibri" pitchFamily="34" charset="0"/>
                <a:ea typeface="Calibri" pitchFamily="34" charset="-122"/>
                <a:cs typeface="Calibri" pitchFamily="34" charset="-120"/>
              </a:rPr>
              <a:t>	</a:t>
            </a:r>
            <a:endParaRPr lang="en-US" sz="1050" dirty="0">
              <a:solidFill>
                <a:srgbClr val="1A1A2E"/>
              </a:solidFill>
              <a:latin typeface="Calibri" pitchFamily="34" charset="0"/>
              <a:ea typeface="Calibri" pitchFamily="34" charset="-122"/>
              <a:cs typeface="Calibri" pitchFamily="34" charset="-12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a:p>
        </p:txBody>
      </p:sp>
      <p:graphicFrame>
        <p:nvGraphicFramePr>
          <p:cNvPr id="6" name="Table 5">
            <a:extLst>
              <a:ext uri="{FF2B5EF4-FFF2-40B4-BE49-F238E27FC236}">
                <a16:creationId xmlns:a16="http://schemas.microsoft.com/office/drawing/2014/main" id="{BA31A206-1BBD-CCC6-FE0F-A12147F91F94}"/>
              </a:ext>
            </a:extLst>
          </p:cNvPr>
          <p:cNvGraphicFramePr>
            <a:graphicFrameLocks noGrp="1"/>
          </p:cNvGraphicFramePr>
          <p:nvPr>
            <p:extLst>
              <p:ext uri="{D42A27DB-BD31-4B8C-83A1-F6EECF244321}">
                <p14:modId xmlns:p14="http://schemas.microsoft.com/office/powerpoint/2010/main" val="4266519343"/>
              </p:ext>
            </p:extLst>
          </p:nvPr>
        </p:nvGraphicFramePr>
        <p:xfrm>
          <a:off x="4983762" y="3081020"/>
          <a:ext cx="4022796" cy="1828800"/>
        </p:xfrm>
        <a:graphic>
          <a:graphicData uri="http://schemas.openxmlformats.org/drawingml/2006/table">
            <a:tbl>
              <a:tblPr firstRow="1" bandRow="1">
                <a:tableStyleId>{5C22544A-7EE6-4342-B048-85BDC9FD1C3A}</a:tableStyleId>
              </a:tblPr>
              <a:tblGrid>
                <a:gridCol w="1629551">
                  <a:extLst>
                    <a:ext uri="{9D8B030D-6E8A-4147-A177-3AD203B41FA5}">
                      <a16:colId xmlns:a16="http://schemas.microsoft.com/office/drawing/2014/main" val="2710443746"/>
                    </a:ext>
                  </a:extLst>
                </a:gridCol>
                <a:gridCol w="2393245">
                  <a:extLst>
                    <a:ext uri="{9D8B030D-6E8A-4147-A177-3AD203B41FA5}">
                      <a16:colId xmlns:a16="http://schemas.microsoft.com/office/drawing/2014/main" val="1117155447"/>
                    </a:ext>
                  </a:extLst>
                </a:gridCol>
              </a:tblGrid>
              <a:tr h="0">
                <a:tc>
                  <a:txBody>
                    <a:bodyPr/>
                    <a:lstStyle/>
                    <a:p>
                      <a:r>
                        <a:rPr lang="en-US" sz="1200" b="0" dirty="0">
                          <a:solidFill>
                            <a:srgbClr val="1A1A2E"/>
                          </a:solidFill>
                          <a:latin typeface="Calibri" pitchFamily="34" charset="0"/>
                          <a:ea typeface="Calibri" pitchFamily="34" charset="-122"/>
                          <a:cs typeface="Calibri" pitchFamily="34" charset="-120"/>
                        </a:rPr>
                        <a:t>Cost-effective</a:t>
                      </a:r>
                      <a:endParaRPr lang="en-IN" sz="12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solidFill>
                            <a:srgbClr val="1A1A2E"/>
                          </a:solidFill>
                          <a:latin typeface="Calibri" pitchFamily="34" charset="0"/>
                          <a:ea typeface="Calibri" pitchFamily="34" charset="-122"/>
                          <a:cs typeface="Calibri" pitchFamily="34" charset="-120"/>
                        </a:rPr>
                        <a:t>Improved Research Time Allocation </a:t>
                      </a:r>
                      <a:endParaRPr lang="en-IN" sz="1200" b="0" dirty="0"/>
                    </a:p>
                  </a:txBody>
                  <a:tcPr/>
                </a:tc>
                <a:extLst>
                  <a:ext uri="{0D108BD9-81ED-4DB2-BD59-A6C34878D82A}">
                    <a16:rowId xmlns:a16="http://schemas.microsoft.com/office/drawing/2014/main" val="2017372694"/>
                  </a:ext>
                </a:extLst>
              </a:tr>
              <a:tr h="370840">
                <a:tc>
                  <a:txBody>
                    <a:bodyPr/>
                    <a:lstStyle/>
                    <a:p>
                      <a:r>
                        <a:rPr lang="en-US" sz="1200" dirty="0">
                          <a:solidFill>
                            <a:srgbClr val="1A1A2E"/>
                          </a:solidFill>
                          <a:latin typeface="Calibri" pitchFamily="34" charset="0"/>
                          <a:ea typeface="Calibri" pitchFamily="34" charset="-122"/>
                          <a:cs typeface="Calibri" pitchFamily="34" charset="-120"/>
                        </a:rPr>
                        <a:t>Comprehensive Workload Visibility </a:t>
                      </a:r>
                      <a:endParaRPr lang="en-IN"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1A1A2E"/>
                          </a:solidFill>
                          <a:latin typeface="Calibri" pitchFamily="34" charset="0"/>
                          <a:ea typeface="Calibri" pitchFamily="34" charset="-122"/>
                          <a:cs typeface="Calibri" pitchFamily="34" charset="-120"/>
                        </a:rPr>
                        <a:t>Enhanced Decision Support </a:t>
                      </a:r>
                    </a:p>
                    <a:p>
                      <a:endParaRPr lang="en-IN" sz="1200" dirty="0"/>
                    </a:p>
                  </a:txBody>
                  <a:tcPr/>
                </a:tc>
                <a:extLst>
                  <a:ext uri="{0D108BD9-81ED-4DB2-BD59-A6C34878D82A}">
                    <a16:rowId xmlns:a16="http://schemas.microsoft.com/office/drawing/2014/main" val="1735447506"/>
                  </a:ext>
                </a:extLst>
              </a:tr>
              <a:tr h="370840">
                <a:tc>
                  <a:txBody>
                    <a:bodyPr/>
                    <a:lstStyle/>
                    <a:p>
                      <a:r>
                        <a:rPr lang="en-US" sz="1200" dirty="0">
                          <a:solidFill>
                            <a:srgbClr val="1A1A2E"/>
                          </a:solidFill>
                          <a:latin typeface="Calibri" pitchFamily="34" charset="0"/>
                          <a:ea typeface="Calibri" pitchFamily="34" charset="-122"/>
                          <a:cs typeface="Calibri" pitchFamily="34" charset="-120"/>
                        </a:rPr>
                        <a:t>Early Imbalance Detection </a:t>
                      </a:r>
                      <a:endParaRPr lang="en-IN" sz="1200" dirty="0"/>
                    </a:p>
                  </a:txBody>
                  <a:tcPr/>
                </a:tc>
                <a:tc>
                  <a:txBody>
                    <a:bodyPr/>
                    <a:lstStyle/>
                    <a:p>
                      <a:r>
                        <a:rPr lang="en-US" sz="1200" dirty="0">
                          <a:solidFill>
                            <a:srgbClr val="1A1A2E"/>
                          </a:solidFill>
                          <a:latin typeface="Calibri" pitchFamily="34" charset="0"/>
                          <a:ea typeface="Calibri" pitchFamily="34" charset="-122"/>
                          <a:cs typeface="Calibri" pitchFamily="34" charset="-120"/>
                        </a:rPr>
                        <a:t>Fairness and Morale </a:t>
                      </a:r>
                      <a:endParaRPr lang="en-IN" sz="1200" dirty="0"/>
                    </a:p>
                  </a:txBody>
                  <a:tcPr/>
                </a:tc>
                <a:extLst>
                  <a:ext uri="{0D108BD9-81ED-4DB2-BD59-A6C34878D82A}">
                    <a16:rowId xmlns:a16="http://schemas.microsoft.com/office/drawing/2014/main" val="485174504"/>
                  </a:ext>
                </a:extLst>
              </a:tr>
              <a:tr h="370840">
                <a:tc>
                  <a:txBody>
                    <a:bodyPr/>
                    <a:lstStyle/>
                    <a:p>
                      <a:r>
                        <a:rPr lang="en-US" sz="1200" dirty="0">
                          <a:solidFill>
                            <a:srgbClr val="1A1A2E"/>
                          </a:solidFill>
                          <a:latin typeface="Calibri" pitchFamily="34" charset="0"/>
                          <a:ea typeface="Calibri" pitchFamily="34" charset="-122"/>
                          <a:cs typeface="Calibri" pitchFamily="34" charset="-120"/>
                        </a:rPr>
                        <a:t>Data Driven Redistribution </a:t>
                      </a:r>
                      <a:endParaRPr lang="en-IN" sz="1200" dirty="0"/>
                    </a:p>
                  </a:txBody>
                  <a:tcPr/>
                </a:tc>
                <a:tc>
                  <a:txBody>
                    <a:bodyPr/>
                    <a:lstStyle/>
                    <a:p>
                      <a:r>
                        <a:rPr lang="en-IN" sz="1200" kern="1200" dirty="0">
                          <a:solidFill>
                            <a:schemeClr val="dk1"/>
                          </a:solidFill>
                          <a:effectLst/>
                          <a:latin typeface="+mn-lt"/>
                          <a:ea typeface="+mn-ea"/>
                          <a:cs typeface="+mn-cs"/>
                        </a:rPr>
                        <a:t>Leverages AI tools like Copilot to accelerate analysis and reduce human error</a:t>
                      </a:r>
                      <a:endParaRPr lang="en-IN" sz="1200" dirty="0"/>
                    </a:p>
                  </a:txBody>
                  <a:tcPr/>
                </a:tc>
                <a:extLst>
                  <a:ext uri="{0D108BD9-81ED-4DB2-BD59-A6C34878D82A}">
                    <a16:rowId xmlns:a16="http://schemas.microsoft.com/office/drawing/2014/main" val="2224840737"/>
                  </a:ext>
                </a:extLst>
              </a:tr>
            </a:tbl>
          </a:graphicData>
        </a:graphic>
      </p:graphicFrame>
      <p:graphicFrame>
        <p:nvGraphicFramePr>
          <p:cNvPr id="8" name="Table 7">
            <a:extLst>
              <a:ext uri="{FF2B5EF4-FFF2-40B4-BE49-F238E27FC236}">
                <a16:creationId xmlns:a16="http://schemas.microsoft.com/office/drawing/2014/main" id="{30CD9132-F446-9A88-0AA2-EE58E008103E}"/>
              </a:ext>
            </a:extLst>
          </p:cNvPr>
          <p:cNvGraphicFramePr>
            <a:graphicFrameLocks noGrp="1"/>
          </p:cNvGraphicFramePr>
          <p:nvPr>
            <p:extLst>
              <p:ext uri="{D42A27DB-BD31-4B8C-83A1-F6EECF244321}">
                <p14:modId xmlns:p14="http://schemas.microsoft.com/office/powerpoint/2010/main" val="1696638721"/>
              </p:ext>
            </p:extLst>
          </p:nvPr>
        </p:nvGraphicFramePr>
        <p:xfrm>
          <a:off x="142240" y="2943549"/>
          <a:ext cx="4429760" cy="2286000"/>
        </p:xfrm>
        <a:graphic>
          <a:graphicData uri="http://schemas.openxmlformats.org/drawingml/2006/table">
            <a:tbl>
              <a:tblPr firstRow="1" bandRow="1">
                <a:tableStyleId>{5C22544A-7EE6-4342-B048-85BDC9FD1C3A}</a:tableStyleId>
              </a:tblPr>
              <a:tblGrid>
                <a:gridCol w="1253345">
                  <a:extLst>
                    <a:ext uri="{9D8B030D-6E8A-4147-A177-3AD203B41FA5}">
                      <a16:colId xmlns:a16="http://schemas.microsoft.com/office/drawing/2014/main" val="2123675452"/>
                    </a:ext>
                  </a:extLst>
                </a:gridCol>
                <a:gridCol w="3176415">
                  <a:extLst>
                    <a:ext uri="{9D8B030D-6E8A-4147-A177-3AD203B41FA5}">
                      <a16:colId xmlns:a16="http://schemas.microsoft.com/office/drawing/2014/main" val="728676124"/>
                    </a:ext>
                  </a:extLst>
                </a:gridCol>
              </a:tblGrid>
              <a:tr h="235953">
                <a:tc>
                  <a:txBody>
                    <a:bodyPr/>
                    <a:lstStyle/>
                    <a:p>
                      <a:r>
                        <a:rPr lang="en-US" sz="1200" b="0" dirty="0"/>
                        <a:t>Data Ingestion</a:t>
                      </a:r>
                      <a:endParaRPr lang="en-IN" sz="1200" b="0" dirty="0"/>
                    </a:p>
                  </a:txBody>
                  <a:tcPr/>
                </a:tc>
                <a:tc>
                  <a:txBody>
                    <a:bodyPr/>
                    <a:lstStyle/>
                    <a:p>
                      <a:r>
                        <a:rPr lang="en-IN" sz="1200" b="0" kern="1200" dirty="0">
                          <a:solidFill>
                            <a:schemeClr val="lt1"/>
                          </a:solidFill>
                          <a:effectLst/>
                          <a:latin typeface="+mn-lt"/>
                          <a:ea typeface="+mn-ea"/>
                          <a:cs typeface="+mn-cs"/>
                        </a:rPr>
                        <a:t>Loading the raw dataset into Excel </a:t>
                      </a:r>
                      <a:endParaRPr lang="en-IN" sz="1200" b="0" dirty="0"/>
                    </a:p>
                  </a:txBody>
                  <a:tcPr/>
                </a:tc>
                <a:extLst>
                  <a:ext uri="{0D108BD9-81ED-4DB2-BD59-A6C34878D82A}">
                    <a16:rowId xmlns:a16="http://schemas.microsoft.com/office/drawing/2014/main" val="940591476"/>
                  </a:ext>
                </a:extLst>
              </a:tr>
              <a:tr h="393254">
                <a:tc>
                  <a:txBody>
                    <a:bodyPr/>
                    <a:lstStyle/>
                    <a:p>
                      <a:r>
                        <a:rPr lang="en-IN" sz="1200" kern="1200" dirty="0">
                          <a:solidFill>
                            <a:schemeClr val="dk1"/>
                          </a:solidFill>
                          <a:effectLst/>
                          <a:latin typeface="+mn-lt"/>
                          <a:ea typeface="+mn-ea"/>
                          <a:cs typeface="+mn-cs"/>
                        </a:rPr>
                        <a:t>Data Cleaning</a:t>
                      </a:r>
                      <a:endParaRPr lang="en-IN"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effectLst/>
                          <a:latin typeface="+mn-lt"/>
                          <a:ea typeface="+mn-ea"/>
                          <a:cs typeface="+mn-cs"/>
                        </a:rPr>
                        <a:t>Removing inconsistencies, duplicates, and null values using Power query editor and Excel</a:t>
                      </a:r>
                      <a:endParaRPr lang="en-IN" sz="1200" dirty="0"/>
                    </a:p>
                  </a:txBody>
                  <a:tcPr/>
                </a:tc>
                <a:extLst>
                  <a:ext uri="{0D108BD9-81ED-4DB2-BD59-A6C34878D82A}">
                    <a16:rowId xmlns:a16="http://schemas.microsoft.com/office/drawing/2014/main" val="2659271311"/>
                  </a:ext>
                </a:extLst>
              </a:tr>
              <a:tr h="393254">
                <a:tc>
                  <a:txBody>
                    <a:bodyPr/>
                    <a:lstStyle/>
                    <a:p>
                      <a:r>
                        <a:rPr lang="en-IN" sz="1200" kern="1200" dirty="0">
                          <a:solidFill>
                            <a:schemeClr val="dk1"/>
                          </a:solidFill>
                          <a:effectLst/>
                          <a:latin typeface="+mn-lt"/>
                          <a:ea typeface="+mn-ea"/>
                          <a:cs typeface="+mn-cs"/>
                        </a:rPr>
                        <a:t>Data Analysis</a:t>
                      </a:r>
                      <a:endParaRPr lang="en-IN"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effectLst/>
                          <a:latin typeface="+mn-lt"/>
                          <a:ea typeface="+mn-ea"/>
                          <a:cs typeface="+mn-cs"/>
                        </a:rPr>
                        <a:t>Applying calculations, formulae, AI prompts, or DAX measures.</a:t>
                      </a:r>
                      <a:endParaRPr lang="en-IN" sz="1200" dirty="0"/>
                    </a:p>
                  </a:txBody>
                  <a:tcPr/>
                </a:tc>
                <a:extLst>
                  <a:ext uri="{0D108BD9-81ED-4DB2-BD59-A6C34878D82A}">
                    <a16:rowId xmlns:a16="http://schemas.microsoft.com/office/drawing/2014/main" val="2717046698"/>
                  </a:ext>
                </a:extLst>
              </a:tr>
              <a:tr h="550556">
                <a:tc>
                  <a:txBody>
                    <a:bodyPr/>
                    <a:lstStyle/>
                    <a:p>
                      <a:r>
                        <a:rPr lang="en-IN" sz="1200" kern="1200" dirty="0">
                          <a:solidFill>
                            <a:schemeClr val="dk1"/>
                          </a:solidFill>
                          <a:effectLst/>
                          <a:latin typeface="+mn-lt"/>
                          <a:ea typeface="+mn-ea"/>
                          <a:cs typeface="+mn-cs"/>
                        </a:rPr>
                        <a:t>Visualization / Report Generation</a:t>
                      </a:r>
                      <a:endParaRPr lang="en-IN" sz="1200" dirty="0"/>
                    </a:p>
                  </a:txBody>
                  <a:tcPr/>
                </a:tc>
                <a:tc>
                  <a:txBody>
                    <a:bodyPr/>
                    <a:lstStyle/>
                    <a:p>
                      <a:r>
                        <a:rPr lang="en-IN" sz="1200" kern="1200" dirty="0">
                          <a:solidFill>
                            <a:schemeClr val="dk1"/>
                          </a:solidFill>
                          <a:effectLst/>
                          <a:latin typeface="+mn-lt"/>
                          <a:ea typeface="+mn-ea"/>
                          <a:cs typeface="+mn-cs"/>
                        </a:rPr>
                        <a:t>Building dashboards, charts using Power BI</a:t>
                      </a:r>
                      <a:endParaRPr lang="en-IN" sz="1200" dirty="0"/>
                    </a:p>
                  </a:txBody>
                  <a:tcPr/>
                </a:tc>
                <a:extLst>
                  <a:ext uri="{0D108BD9-81ED-4DB2-BD59-A6C34878D82A}">
                    <a16:rowId xmlns:a16="http://schemas.microsoft.com/office/drawing/2014/main" val="191908144"/>
                  </a:ext>
                </a:extLst>
              </a:tr>
              <a:tr h="3932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effectLst/>
                          <a:latin typeface="+mn-lt"/>
                          <a:ea typeface="+mn-ea"/>
                          <a:cs typeface="+mn-cs"/>
                        </a:rPr>
                        <a:t>AI Integration</a:t>
                      </a:r>
                      <a:endParaRPr lang="en-IN"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chemeClr val="dk1"/>
                          </a:solidFill>
                          <a:effectLst/>
                          <a:latin typeface="+mn-lt"/>
                          <a:ea typeface="+mn-ea"/>
                          <a:cs typeface="+mn-cs"/>
                        </a:rPr>
                        <a:t>Using Copilot for analysis, content generation, or insight summaries.</a:t>
                      </a:r>
                      <a:endParaRPr lang="en-IN" sz="1200" dirty="0"/>
                    </a:p>
                  </a:txBody>
                  <a:tcPr/>
                </a:tc>
                <a:extLst>
                  <a:ext uri="{0D108BD9-81ED-4DB2-BD59-A6C34878D82A}">
                    <a16:rowId xmlns:a16="http://schemas.microsoft.com/office/drawing/2014/main" val="228618168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274320" y="521208"/>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System Architecture</a:t>
            </a:r>
            <a:endParaRPr lang="en-US" sz="2200" dirty="0"/>
          </a:p>
        </p:txBody>
      </p:sp>
      <p:sp>
        <p:nvSpPr>
          <p:cNvPr id="5" name="Shape 3"/>
          <p:cNvSpPr/>
          <p:nvPr/>
        </p:nvSpPr>
        <p:spPr>
          <a:xfrm>
            <a:off x="0" y="4983480"/>
            <a:ext cx="9144000" cy="160020"/>
          </a:xfrm>
          <a:prstGeom prst="rect">
            <a:avLst/>
          </a:prstGeom>
          <a:solidFill>
            <a:srgbClr val="1B3A8A"/>
          </a:solidFill>
          <a:ln/>
        </p:spPr>
        <p:txBody>
          <a:bodyPr/>
          <a:lstStyle/>
          <a:p>
            <a:endParaRPr lang="en-IN"/>
          </a:p>
        </p:txBody>
      </p:sp>
      <p:sp>
        <p:nvSpPr>
          <p:cNvPr id="6" name="Shape 4"/>
          <p:cNvSpPr/>
          <p:nvPr/>
        </p:nvSpPr>
        <p:spPr>
          <a:xfrm>
            <a:off x="274320" y="996696"/>
            <a:ext cx="4114800" cy="384048"/>
          </a:xfrm>
          <a:prstGeom prst="rect">
            <a:avLst/>
          </a:prstGeom>
          <a:solidFill>
            <a:srgbClr val="1565C0"/>
          </a:solidFill>
          <a:ln/>
        </p:spPr>
        <p:txBody>
          <a:bodyPr/>
          <a:lstStyle/>
          <a:p>
            <a:endParaRPr lang="en-IN"/>
          </a:p>
        </p:txBody>
      </p:sp>
      <p:sp>
        <p:nvSpPr>
          <p:cNvPr id="7" name="Shape 5"/>
          <p:cNvSpPr/>
          <p:nvPr/>
        </p:nvSpPr>
        <p:spPr>
          <a:xfrm>
            <a:off x="4206240" y="1097280"/>
            <a:ext cx="320040" cy="384048"/>
          </a:xfrm>
          <a:prstGeom prst="rect">
            <a:avLst/>
          </a:prstGeom>
          <a:solidFill>
            <a:srgbClr val="1B3A8A"/>
          </a:solidFill>
          <a:ln/>
        </p:spPr>
        <p:txBody>
          <a:bodyPr/>
          <a:lstStyle/>
          <a:p>
            <a:endParaRPr lang="en-IN"/>
          </a:p>
        </p:txBody>
      </p:sp>
      <p:sp>
        <p:nvSpPr>
          <p:cNvPr id="8" name="Text 6"/>
          <p:cNvSpPr/>
          <p:nvPr/>
        </p:nvSpPr>
        <p:spPr>
          <a:xfrm>
            <a:off x="365760" y="11338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Data Input / Source</a:t>
            </a:r>
            <a:endParaRPr lang="en-US" sz="1200"/>
          </a:p>
        </p:txBody>
      </p:sp>
      <p:sp>
        <p:nvSpPr>
          <p:cNvPr id="9" name="Text 7"/>
          <p:cNvSpPr/>
          <p:nvPr/>
        </p:nvSpPr>
        <p:spPr>
          <a:xfrm>
            <a:off x="342900" y="1468797"/>
            <a:ext cx="4023360" cy="1188720"/>
          </a:xfrm>
          <a:prstGeom prst="rect">
            <a:avLst/>
          </a:prstGeom>
          <a:noFill/>
          <a:ln/>
        </p:spPr>
        <p:txBody>
          <a:bodyPr wrap="square" rtlCol="0" anchor="t"/>
          <a:lstStyle/>
          <a:p>
            <a:pPr lvl="0" algn="just"/>
            <a:r>
              <a:rPr lang="en-IN" sz="1050" dirty="0"/>
              <a:t>Real Excel Dataset with 109 rows and 25 columns capturing faculty from 6 different Departments across 3 designations and 3 experience Levels.</a:t>
            </a:r>
          </a:p>
          <a:p>
            <a:pPr algn="just"/>
            <a:r>
              <a:rPr lang="en-IN" sz="1050" dirty="0"/>
              <a:t> </a:t>
            </a:r>
            <a:r>
              <a:rPr lang="en-IN" sz="1050" b="1" dirty="0"/>
              <a:t>Primary sources</a:t>
            </a:r>
            <a:r>
              <a:rPr lang="en-IN" sz="1050" dirty="0"/>
              <a:t>: Departmental workload documents and timetables submitted by HODs; IQAC committee allocation sheet; manual data entry for non‑digital inputs; verification records signed by the Principal.</a:t>
            </a:r>
          </a:p>
        </p:txBody>
      </p:sp>
      <p:sp>
        <p:nvSpPr>
          <p:cNvPr id="10" name="Shape 8"/>
          <p:cNvSpPr/>
          <p:nvPr/>
        </p:nvSpPr>
        <p:spPr>
          <a:xfrm>
            <a:off x="4709160" y="973836"/>
            <a:ext cx="4114800" cy="384048"/>
          </a:xfrm>
          <a:prstGeom prst="rect">
            <a:avLst/>
          </a:prstGeom>
          <a:solidFill>
            <a:srgbClr val="1565C0"/>
          </a:solidFill>
          <a:ln/>
        </p:spPr>
        <p:txBody>
          <a:bodyPr/>
          <a:lstStyle/>
          <a:p>
            <a:endParaRPr lang="en-IN"/>
          </a:p>
        </p:txBody>
      </p:sp>
      <p:sp>
        <p:nvSpPr>
          <p:cNvPr id="11" name="Shape 9"/>
          <p:cNvSpPr/>
          <p:nvPr/>
        </p:nvSpPr>
        <p:spPr>
          <a:xfrm>
            <a:off x="8641080" y="1097280"/>
            <a:ext cx="320040" cy="384048"/>
          </a:xfrm>
          <a:prstGeom prst="rect">
            <a:avLst/>
          </a:prstGeom>
          <a:solidFill>
            <a:srgbClr val="1B3A8A"/>
          </a:solidFill>
          <a:ln/>
        </p:spPr>
        <p:txBody>
          <a:bodyPr/>
          <a:lstStyle/>
          <a:p>
            <a:endParaRPr lang="en-IN"/>
          </a:p>
        </p:txBody>
      </p:sp>
      <p:sp>
        <p:nvSpPr>
          <p:cNvPr id="12" name="Text 10"/>
          <p:cNvSpPr/>
          <p:nvPr/>
        </p:nvSpPr>
        <p:spPr>
          <a:xfrm>
            <a:off x="4800600" y="11338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Processing / Analysis</a:t>
            </a:r>
            <a:endParaRPr lang="en-US" sz="1200"/>
          </a:p>
        </p:txBody>
      </p:sp>
      <p:sp>
        <p:nvSpPr>
          <p:cNvPr id="13" name="Text 11"/>
          <p:cNvSpPr/>
          <p:nvPr/>
        </p:nvSpPr>
        <p:spPr>
          <a:xfrm>
            <a:off x="4686300" y="1444752"/>
            <a:ext cx="4251960" cy="1357884"/>
          </a:xfrm>
          <a:prstGeom prst="rect">
            <a:avLst/>
          </a:prstGeom>
          <a:noFill/>
          <a:ln/>
        </p:spPr>
        <p:txBody>
          <a:bodyPr wrap="square" rtlCol="0" anchor="t"/>
          <a:lstStyle/>
          <a:p>
            <a:r>
              <a:rPr lang="en-IN" sz="1050" dirty="0"/>
              <a:t>Used </a:t>
            </a:r>
            <a:r>
              <a:rPr lang="en-IN" sz="1050" b="1" dirty="0"/>
              <a:t>Power Query</a:t>
            </a:r>
            <a:r>
              <a:rPr lang="en-IN" sz="1050" dirty="0"/>
              <a:t> to normalize text and numeric formats,  deduplicate records, and harmonize field names &amp; replace null values</a:t>
            </a:r>
          </a:p>
          <a:p>
            <a:r>
              <a:rPr lang="en-IN" sz="1050" dirty="0"/>
              <a:t>  Apply business rules and assumptions (e.g., 1 class = 1 hour; mentoring = 1 hr/week; class of 60 = 1 proportion unit; new/repeat flags = 1/0; same‑subject sections flag = 1). Computed derived fields: </a:t>
            </a:r>
            <a:r>
              <a:rPr lang="en-IN" sz="1050" b="1" dirty="0"/>
              <a:t>TSH</a:t>
            </a:r>
            <a:r>
              <a:rPr lang="en-IN" sz="1050" dirty="0"/>
              <a:t>, </a:t>
            </a:r>
            <a:r>
              <a:rPr lang="en-IN" sz="1050" b="1" dirty="0"/>
              <a:t>TH, EL</a:t>
            </a:r>
            <a:r>
              <a:rPr lang="en-IN" sz="1050" dirty="0"/>
              <a:t> (Junior/Mid/Senior), </a:t>
            </a:r>
            <a:r>
              <a:rPr lang="en-IN" sz="1050" b="1" dirty="0"/>
              <a:t>Course Load Flag</a:t>
            </a:r>
            <a:r>
              <a:rPr lang="en-IN" sz="1050" dirty="0"/>
              <a:t> (High/Low), </a:t>
            </a:r>
            <a:r>
              <a:rPr lang="en-IN" sz="1050" b="1" dirty="0" err="1"/>
              <a:t>Check_Total</a:t>
            </a:r>
            <a:r>
              <a:rPr lang="en-IN" sz="1050" dirty="0"/>
              <a:t>, </a:t>
            </a:r>
            <a:r>
              <a:rPr lang="en-IN" sz="1050" b="1" dirty="0" err="1"/>
              <a:t>Error_Flag</a:t>
            </a:r>
            <a:r>
              <a:rPr lang="en-IN" sz="1050" dirty="0"/>
              <a:t>. </a:t>
            </a:r>
          </a:p>
          <a:p>
            <a:r>
              <a:rPr lang="en-IN" sz="1050" b="1" dirty="0"/>
              <a:t>Used Power BI </a:t>
            </a:r>
            <a:r>
              <a:rPr lang="en-IN" sz="1050" dirty="0"/>
              <a:t>for dashboard development</a:t>
            </a:r>
            <a:endParaRPr lang="en-US" sz="1050" dirty="0"/>
          </a:p>
        </p:txBody>
      </p:sp>
      <p:sp>
        <p:nvSpPr>
          <p:cNvPr id="14" name="Shape 12"/>
          <p:cNvSpPr/>
          <p:nvPr/>
        </p:nvSpPr>
        <p:spPr>
          <a:xfrm>
            <a:off x="274320" y="2926080"/>
            <a:ext cx="4114800" cy="384048"/>
          </a:xfrm>
          <a:prstGeom prst="rect">
            <a:avLst/>
          </a:prstGeom>
          <a:solidFill>
            <a:srgbClr val="1565C0"/>
          </a:solidFill>
          <a:ln/>
        </p:spPr>
        <p:txBody>
          <a:bodyPr/>
          <a:lstStyle/>
          <a:p>
            <a:endParaRPr lang="en-IN"/>
          </a:p>
        </p:txBody>
      </p:sp>
      <p:sp>
        <p:nvSpPr>
          <p:cNvPr id="15" name="Shape 13"/>
          <p:cNvSpPr/>
          <p:nvPr/>
        </p:nvSpPr>
        <p:spPr>
          <a:xfrm>
            <a:off x="4206240" y="2926080"/>
            <a:ext cx="320040" cy="384048"/>
          </a:xfrm>
          <a:prstGeom prst="rect">
            <a:avLst/>
          </a:prstGeom>
          <a:solidFill>
            <a:srgbClr val="1B3A8A"/>
          </a:solidFill>
          <a:ln/>
        </p:spPr>
        <p:txBody>
          <a:bodyPr/>
          <a:lstStyle/>
          <a:p>
            <a:endParaRPr lang="en-IN"/>
          </a:p>
        </p:txBody>
      </p:sp>
      <p:sp>
        <p:nvSpPr>
          <p:cNvPr id="16" name="Text 14"/>
          <p:cNvSpPr/>
          <p:nvPr/>
        </p:nvSpPr>
        <p:spPr>
          <a:xfrm>
            <a:off x="365760" y="29626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AI / Tool Integration</a:t>
            </a:r>
            <a:endParaRPr lang="en-US" sz="1200"/>
          </a:p>
        </p:txBody>
      </p:sp>
      <p:sp>
        <p:nvSpPr>
          <p:cNvPr id="17" name="Text 15"/>
          <p:cNvSpPr/>
          <p:nvPr/>
        </p:nvSpPr>
        <p:spPr>
          <a:xfrm>
            <a:off x="365760" y="3383280"/>
            <a:ext cx="4023360" cy="1188720"/>
          </a:xfrm>
          <a:prstGeom prst="rect">
            <a:avLst/>
          </a:prstGeom>
          <a:noFill/>
          <a:ln/>
        </p:spPr>
        <p:txBody>
          <a:bodyPr wrap="square" rtlCol="0" anchor="t"/>
          <a:lstStyle/>
          <a:p>
            <a:pPr marL="0" indent="0" algn="just">
              <a:buNone/>
            </a:pPr>
            <a:r>
              <a:rPr lang="en-US" sz="1150" dirty="0">
                <a:solidFill>
                  <a:srgbClr val="1A1A2E"/>
                </a:solidFill>
                <a:latin typeface="Calibri" pitchFamily="34" charset="0"/>
                <a:ea typeface="Calibri" pitchFamily="34" charset="-122"/>
                <a:cs typeface="Calibri" pitchFamily="34" charset="-120"/>
              </a:rPr>
              <a:t>Excel used for Data input and cleaning using Power query editor.</a:t>
            </a:r>
          </a:p>
          <a:p>
            <a:pPr marL="0" indent="0" algn="just">
              <a:buNone/>
            </a:pPr>
            <a:r>
              <a:rPr lang="en-US" sz="1150" dirty="0">
                <a:solidFill>
                  <a:srgbClr val="1A1A2E"/>
                </a:solidFill>
                <a:latin typeface="Calibri" pitchFamily="34" charset="0"/>
                <a:ea typeface="Calibri" pitchFamily="34" charset="-122"/>
                <a:cs typeface="Calibri" pitchFamily="34" charset="-120"/>
              </a:rPr>
              <a:t>Power BI to develop visualizations Dashboard </a:t>
            </a:r>
          </a:p>
          <a:p>
            <a:pPr marL="0" indent="0" algn="just">
              <a:buNone/>
            </a:pPr>
            <a:r>
              <a:rPr lang="en-US" sz="1150" dirty="0">
                <a:solidFill>
                  <a:srgbClr val="1A1A2E"/>
                </a:solidFill>
                <a:latin typeface="Calibri" pitchFamily="34" charset="0"/>
                <a:ea typeface="Calibri" pitchFamily="34" charset="-122"/>
                <a:cs typeface="Calibri" pitchFamily="34" charset="-120"/>
              </a:rPr>
              <a:t>Copilot was used to generate insightful summaries for actionable insights and suggestion for incorporation of important metrics.</a:t>
            </a:r>
            <a:endParaRPr lang="en-US" sz="1150" dirty="0"/>
          </a:p>
        </p:txBody>
      </p:sp>
      <p:sp>
        <p:nvSpPr>
          <p:cNvPr id="18" name="Shape 16"/>
          <p:cNvSpPr/>
          <p:nvPr/>
        </p:nvSpPr>
        <p:spPr>
          <a:xfrm>
            <a:off x="4709160" y="2926080"/>
            <a:ext cx="4114800" cy="384048"/>
          </a:xfrm>
          <a:prstGeom prst="rect">
            <a:avLst/>
          </a:prstGeom>
          <a:solidFill>
            <a:srgbClr val="1565C0"/>
          </a:solidFill>
          <a:ln/>
        </p:spPr>
        <p:txBody>
          <a:bodyPr/>
          <a:lstStyle/>
          <a:p>
            <a:endParaRPr lang="en-IN"/>
          </a:p>
        </p:txBody>
      </p:sp>
      <p:sp>
        <p:nvSpPr>
          <p:cNvPr id="19" name="Shape 17"/>
          <p:cNvSpPr/>
          <p:nvPr/>
        </p:nvSpPr>
        <p:spPr>
          <a:xfrm>
            <a:off x="8641080" y="2926080"/>
            <a:ext cx="320040" cy="384048"/>
          </a:xfrm>
          <a:prstGeom prst="rect">
            <a:avLst/>
          </a:prstGeom>
          <a:solidFill>
            <a:srgbClr val="1B3A8A"/>
          </a:solidFill>
          <a:ln/>
        </p:spPr>
        <p:txBody>
          <a:bodyPr/>
          <a:lstStyle/>
          <a:p>
            <a:endParaRPr lang="en-IN"/>
          </a:p>
        </p:txBody>
      </p:sp>
      <p:sp>
        <p:nvSpPr>
          <p:cNvPr id="20" name="Text 18"/>
          <p:cNvSpPr/>
          <p:nvPr/>
        </p:nvSpPr>
        <p:spPr>
          <a:xfrm>
            <a:off x="4800600" y="2962656"/>
            <a:ext cx="3840480" cy="310896"/>
          </a:xfrm>
          <a:prstGeom prst="rect">
            <a:avLst/>
          </a:prstGeom>
          <a:noFill/>
          <a:ln/>
        </p:spPr>
        <p:txBody>
          <a:bodyPr wrap="square" rtlCol="0" anchor="ctr"/>
          <a:lstStyle/>
          <a:p>
            <a:pPr marL="0" indent="0">
              <a:buNone/>
            </a:pPr>
            <a:r>
              <a:rPr lang="en-US" sz="1200" b="1">
                <a:solidFill>
                  <a:srgbClr val="FFFFFF"/>
                </a:solidFill>
                <a:latin typeface="Calibri" pitchFamily="34" charset="0"/>
                <a:ea typeface="Calibri" pitchFamily="34" charset="-122"/>
                <a:cs typeface="Calibri" pitchFamily="34" charset="-120"/>
              </a:rPr>
              <a:t>Output / Dashboard</a:t>
            </a:r>
            <a:endParaRPr lang="en-US" sz="1200"/>
          </a:p>
        </p:txBody>
      </p:sp>
      <p:sp>
        <p:nvSpPr>
          <p:cNvPr id="21" name="Text 19"/>
          <p:cNvSpPr/>
          <p:nvPr/>
        </p:nvSpPr>
        <p:spPr>
          <a:xfrm>
            <a:off x="4800600" y="3383280"/>
            <a:ext cx="4023360" cy="1188720"/>
          </a:xfrm>
          <a:prstGeom prst="rect">
            <a:avLst/>
          </a:prstGeom>
          <a:noFill/>
          <a:ln/>
        </p:spPr>
        <p:txBody>
          <a:bodyPr wrap="square" rtlCol="0" anchor="t"/>
          <a:lstStyle/>
          <a:p>
            <a:pPr marL="0" indent="0" algn="just">
              <a:buNone/>
            </a:pPr>
            <a:r>
              <a:rPr lang="en-US" sz="1150" dirty="0">
                <a:solidFill>
                  <a:srgbClr val="1A1A2E"/>
                </a:solidFill>
                <a:latin typeface="Calibri" pitchFamily="34" charset="0"/>
                <a:ea typeface="Calibri" pitchFamily="34" charset="-122"/>
                <a:cs typeface="Calibri" pitchFamily="34" charset="-120"/>
              </a:rPr>
              <a:t>The final output is Dashboard with Departmental KPIS, Teaching KPI, Research &amp; Admin KPIs and Balance KPIS showing allocations for faculty with different experience levels , citing imbalances  and suggesting reallocation to ensure fair distribution of workload and increase research hours.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Live Demo of Project</a:t>
            </a:r>
            <a:endParaRPr lang="en-US" sz="2200"/>
          </a:p>
        </p:txBody>
      </p:sp>
      <p:sp>
        <p:nvSpPr>
          <p:cNvPr id="5" name="Shape 3"/>
          <p:cNvSpPr/>
          <p:nvPr/>
        </p:nvSpPr>
        <p:spPr>
          <a:xfrm>
            <a:off x="0" y="4983480"/>
            <a:ext cx="9144000" cy="160020"/>
          </a:xfrm>
          <a:prstGeom prst="rect">
            <a:avLst/>
          </a:prstGeom>
          <a:solidFill>
            <a:srgbClr val="1B3A8A"/>
          </a:solidFill>
          <a:ln/>
        </p:spPr>
        <p:txBody>
          <a:bodyPr/>
          <a:lstStyle/>
          <a:p>
            <a:endParaRPr lang="en-IN"/>
          </a:p>
        </p:txBody>
      </p:sp>
      <p:sp>
        <p:nvSpPr>
          <p:cNvPr id="6" name="Text 4"/>
          <p:cNvSpPr/>
          <p:nvPr/>
        </p:nvSpPr>
        <p:spPr>
          <a:xfrm>
            <a:off x="365760" y="1115568"/>
            <a:ext cx="8412480" cy="320040"/>
          </a:xfrm>
          <a:prstGeom prst="rect">
            <a:avLst/>
          </a:prstGeom>
          <a:noFill/>
          <a:ln/>
        </p:spPr>
        <p:txBody>
          <a:bodyPr wrap="square" rtlCol="0" anchor="ctr"/>
          <a:lstStyle/>
          <a:p>
            <a:pPr marL="0" indent="0">
              <a:buNone/>
            </a:pPr>
            <a:r>
              <a:rPr lang="en-US" sz="1200" i="1">
                <a:solidFill>
                  <a:srgbClr val="607D8B"/>
                </a:solidFill>
                <a:latin typeface="Calibri" pitchFamily="34" charset="0"/>
                <a:ea typeface="Calibri" pitchFamily="34" charset="-122"/>
                <a:cs typeface="Calibri" pitchFamily="34" charset="-120"/>
              </a:rPr>
              <a:t>Here's the list of some demo screenshots / features of the project:</a:t>
            </a:r>
            <a:endParaRPr lang="en-US" sz="1200"/>
          </a:p>
        </p:txBody>
      </p:sp>
      <p:sp>
        <p:nvSpPr>
          <p:cNvPr id="7" name="Shape 5"/>
          <p:cNvSpPr/>
          <p:nvPr/>
        </p:nvSpPr>
        <p:spPr>
          <a:xfrm>
            <a:off x="978408" y="1463040"/>
            <a:ext cx="1371600" cy="1371600"/>
          </a:xfrm>
          <a:prstGeom prst="ellipse">
            <a:avLst/>
          </a:prstGeom>
          <a:solidFill>
            <a:srgbClr val="ECEFF1"/>
          </a:solidFill>
          <a:ln w="38100">
            <a:solidFill>
              <a:srgbClr val="FFFFFF"/>
            </a:solidFill>
            <a:prstDash val="solid"/>
          </a:ln>
        </p:spPr>
        <p:txBody>
          <a:bodyPr/>
          <a:lstStyle/>
          <a:p>
            <a:endParaRPr lang="en-IN"/>
          </a:p>
        </p:txBody>
      </p:sp>
      <p:sp>
        <p:nvSpPr>
          <p:cNvPr id="8" name="Text 6"/>
          <p:cNvSpPr/>
          <p:nvPr/>
        </p:nvSpPr>
        <p:spPr>
          <a:xfrm>
            <a:off x="978408"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9" name="Shape 7"/>
          <p:cNvSpPr/>
          <p:nvPr/>
        </p:nvSpPr>
        <p:spPr>
          <a:xfrm>
            <a:off x="274320" y="2011680"/>
            <a:ext cx="2788920" cy="2651760"/>
          </a:xfrm>
          <a:prstGeom prst="rect">
            <a:avLst/>
          </a:prstGeom>
          <a:solidFill>
            <a:srgbClr val="1565C0"/>
          </a:solidFill>
          <a:ln/>
          <a:effectLst>
            <a:outerShdw blurRad="101600" dist="38100" dir="8100000" algn="bl" rotWithShape="0">
              <a:srgbClr val="000000">
                <a:alpha val="15000"/>
              </a:srgbClr>
            </a:outerShdw>
          </a:effectLst>
        </p:spPr>
        <p:txBody>
          <a:bodyPr/>
          <a:lstStyle/>
          <a:p>
            <a:endParaRPr lang="en-IN"/>
          </a:p>
        </p:txBody>
      </p:sp>
      <p:sp>
        <p:nvSpPr>
          <p:cNvPr id="10" name="Text 8"/>
          <p:cNvSpPr/>
          <p:nvPr/>
        </p:nvSpPr>
        <p:spPr>
          <a:xfrm>
            <a:off x="274320" y="2651760"/>
            <a:ext cx="2788920" cy="41148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Demo 1</a:t>
            </a:r>
            <a:endParaRPr lang="en-US" sz="1600"/>
          </a:p>
        </p:txBody>
      </p:sp>
      <p:sp>
        <p:nvSpPr>
          <p:cNvPr id="11" name="Text 9"/>
          <p:cNvSpPr/>
          <p:nvPr/>
        </p:nvSpPr>
        <p:spPr>
          <a:xfrm>
            <a:off x="411480" y="3127248"/>
            <a:ext cx="2514600" cy="1371600"/>
          </a:xfrm>
          <a:prstGeom prst="rect">
            <a:avLst/>
          </a:prstGeom>
          <a:noFill/>
          <a:ln/>
        </p:spPr>
        <p:txBody>
          <a:bodyPr wrap="square" rtlCol="0" anchor="ctr"/>
          <a:lstStyle/>
          <a:p>
            <a:pPr algn="just"/>
            <a:r>
              <a:rPr lang="en-US" sz="1050" b="1" dirty="0"/>
              <a:t>Teaching KPIs:</a:t>
            </a:r>
            <a:r>
              <a:rPr lang="en-US" sz="1050" dirty="0"/>
              <a:t> Department‑wise teaching load distribution, new course allocations, and class size are highlighted. The dashboard shows load balance across faculty, total teaching hours by designation, and average teaching hours by experience level. High‑load faculty are clearly visualized for quick identification.</a:t>
            </a:r>
          </a:p>
        </p:txBody>
      </p:sp>
      <p:sp>
        <p:nvSpPr>
          <p:cNvPr id="12" name="Shape 10"/>
          <p:cNvSpPr/>
          <p:nvPr/>
        </p:nvSpPr>
        <p:spPr>
          <a:xfrm>
            <a:off x="3922776" y="1463040"/>
            <a:ext cx="1371600" cy="1371600"/>
          </a:xfrm>
          <a:prstGeom prst="ellipse">
            <a:avLst/>
          </a:prstGeom>
          <a:solidFill>
            <a:srgbClr val="ECEFF1"/>
          </a:solidFill>
          <a:ln w="38100">
            <a:solidFill>
              <a:srgbClr val="FFFFFF"/>
            </a:solidFill>
            <a:prstDash val="solid"/>
          </a:ln>
        </p:spPr>
        <p:txBody>
          <a:bodyPr/>
          <a:lstStyle/>
          <a:p>
            <a:endParaRPr lang="en-IN"/>
          </a:p>
        </p:txBody>
      </p:sp>
      <p:sp>
        <p:nvSpPr>
          <p:cNvPr id="13" name="Text 11"/>
          <p:cNvSpPr/>
          <p:nvPr/>
        </p:nvSpPr>
        <p:spPr>
          <a:xfrm>
            <a:off x="3922776"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14" name="Shape 12"/>
          <p:cNvSpPr/>
          <p:nvPr/>
        </p:nvSpPr>
        <p:spPr>
          <a:xfrm>
            <a:off x="3218688" y="2011680"/>
            <a:ext cx="2788920" cy="2651760"/>
          </a:xfrm>
          <a:prstGeom prst="rect">
            <a:avLst/>
          </a:prstGeom>
          <a:solidFill>
            <a:srgbClr val="1565C0"/>
          </a:solidFill>
          <a:ln/>
          <a:effectLst>
            <a:outerShdw blurRad="101600" dist="38100" dir="8100000" algn="bl" rotWithShape="0">
              <a:srgbClr val="000000">
                <a:alpha val="15000"/>
              </a:srgbClr>
            </a:outerShdw>
          </a:effectLst>
        </p:spPr>
        <p:txBody>
          <a:bodyPr/>
          <a:lstStyle/>
          <a:p>
            <a:endParaRPr lang="en-IN"/>
          </a:p>
        </p:txBody>
      </p:sp>
      <p:sp>
        <p:nvSpPr>
          <p:cNvPr id="15" name="Text 13"/>
          <p:cNvSpPr/>
          <p:nvPr/>
        </p:nvSpPr>
        <p:spPr>
          <a:xfrm>
            <a:off x="3218688" y="2651760"/>
            <a:ext cx="2788920" cy="41148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Demo 2</a:t>
            </a:r>
            <a:endParaRPr lang="en-US" sz="1600"/>
          </a:p>
        </p:txBody>
      </p:sp>
      <p:sp>
        <p:nvSpPr>
          <p:cNvPr id="16" name="Text 14"/>
          <p:cNvSpPr/>
          <p:nvPr/>
        </p:nvSpPr>
        <p:spPr>
          <a:xfrm>
            <a:off x="3355848" y="3127248"/>
            <a:ext cx="2514600" cy="1371600"/>
          </a:xfrm>
          <a:prstGeom prst="rect">
            <a:avLst/>
          </a:prstGeom>
          <a:noFill/>
          <a:ln/>
        </p:spPr>
        <p:txBody>
          <a:bodyPr wrap="square" rtlCol="0" anchor="ctr"/>
          <a:lstStyle/>
          <a:p>
            <a:pPr marL="0" indent="0" algn="just">
              <a:buNone/>
            </a:pPr>
            <a:r>
              <a:rPr lang="en-US" sz="1050" dirty="0"/>
              <a:t>Faculty research hours are shown by experience level and designation, alongside median and total service hours. Administrative loads are categorized by experience, giving a clear view of balance and alignment with institutional norms</a:t>
            </a:r>
          </a:p>
        </p:txBody>
      </p:sp>
      <p:sp>
        <p:nvSpPr>
          <p:cNvPr id="17" name="Shape 15"/>
          <p:cNvSpPr/>
          <p:nvPr/>
        </p:nvSpPr>
        <p:spPr>
          <a:xfrm>
            <a:off x="6867144" y="1463040"/>
            <a:ext cx="1371600" cy="1371600"/>
          </a:xfrm>
          <a:prstGeom prst="ellipse">
            <a:avLst/>
          </a:prstGeom>
          <a:solidFill>
            <a:srgbClr val="ECEFF1"/>
          </a:solidFill>
          <a:ln w="38100">
            <a:solidFill>
              <a:srgbClr val="FFFFFF"/>
            </a:solidFill>
            <a:prstDash val="solid"/>
          </a:ln>
        </p:spPr>
        <p:txBody>
          <a:bodyPr/>
          <a:lstStyle/>
          <a:p>
            <a:endParaRPr lang="en-IN"/>
          </a:p>
        </p:txBody>
      </p:sp>
      <p:sp>
        <p:nvSpPr>
          <p:cNvPr id="18" name="Text 16"/>
          <p:cNvSpPr/>
          <p:nvPr/>
        </p:nvSpPr>
        <p:spPr>
          <a:xfrm>
            <a:off x="6867144" y="1463040"/>
            <a:ext cx="1371600" cy="1371600"/>
          </a:xfrm>
          <a:prstGeom prst="rect">
            <a:avLst/>
          </a:prstGeom>
          <a:noFill/>
          <a:ln/>
        </p:spPr>
        <p:txBody>
          <a:bodyPr wrap="square" rtlCol="0" anchor="ctr"/>
          <a:lstStyle/>
          <a:p>
            <a:pPr marL="0" indent="0" algn="ctr">
              <a:buNone/>
            </a:pPr>
            <a:r>
              <a:rPr lang="en-US" sz="3600">
                <a:solidFill>
                  <a:srgbClr val="000000"/>
                </a:solidFill>
              </a:rPr>
              <a:t>🖼</a:t>
            </a:r>
            <a:endParaRPr lang="en-US" sz="3600"/>
          </a:p>
        </p:txBody>
      </p:sp>
      <p:sp>
        <p:nvSpPr>
          <p:cNvPr id="19" name="Shape 17"/>
          <p:cNvSpPr/>
          <p:nvPr/>
        </p:nvSpPr>
        <p:spPr>
          <a:xfrm>
            <a:off x="6163056" y="3127248"/>
            <a:ext cx="2788920" cy="1536192"/>
          </a:xfrm>
          <a:prstGeom prst="rect">
            <a:avLst/>
          </a:prstGeom>
          <a:solidFill>
            <a:srgbClr val="1565C0"/>
          </a:solidFill>
          <a:ln/>
          <a:effectLst>
            <a:outerShdw blurRad="101600" dist="38100" dir="8100000" algn="bl" rotWithShape="0">
              <a:srgbClr val="000000">
                <a:alpha val="15000"/>
              </a:srgbClr>
            </a:outerShdw>
          </a:effectLst>
        </p:spPr>
        <p:txBody>
          <a:bodyPr/>
          <a:lstStyle/>
          <a:p>
            <a:pPr algn="just"/>
            <a:r>
              <a:rPr lang="en-US" sz="1050" dirty="0"/>
              <a:t>Department wise averages of research, service, and administrative hours are shown, highlighting correlations between low research and high service loads. High load and low load faculty are identified, with AI generated insights from Copilot guiding fair reallocation and improved research time</a:t>
            </a:r>
            <a:endParaRPr lang="en-IN" sz="1050" dirty="0"/>
          </a:p>
        </p:txBody>
      </p:sp>
      <p:sp>
        <p:nvSpPr>
          <p:cNvPr id="20" name="Text 18"/>
          <p:cNvSpPr/>
          <p:nvPr/>
        </p:nvSpPr>
        <p:spPr>
          <a:xfrm>
            <a:off x="6163056" y="2651760"/>
            <a:ext cx="2788920" cy="411480"/>
          </a:xfrm>
          <a:prstGeom prst="rect">
            <a:avLst/>
          </a:prstGeom>
          <a:noFill/>
          <a:ln/>
        </p:spPr>
        <p:txBody>
          <a:bodyPr wrap="square" rtlCol="0" anchor="ctr"/>
          <a:lstStyle/>
          <a:p>
            <a:pPr marL="0" indent="0" algn="ctr">
              <a:buNone/>
            </a:pPr>
            <a:r>
              <a:rPr lang="en-US" sz="1600" b="1">
                <a:solidFill>
                  <a:srgbClr val="FFFFFF"/>
                </a:solidFill>
                <a:latin typeface="Calibri" pitchFamily="34" charset="0"/>
                <a:ea typeface="Calibri" pitchFamily="34" charset="-122"/>
                <a:cs typeface="Calibri" pitchFamily="34" charset="-120"/>
              </a:rPr>
              <a:t>Demo 3</a:t>
            </a:r>
            <a:endParaRPr lang="en-US" sz="1600"/>
          </a:p>
        </p:txBody>
      </p:sp>
      <p:sp>
        <p:nvSpPr>
          <p:cNvPr id="21" name="Text 19"/>
          <p:cNvSpPr/>
          <p:nvPr/>
        </p:nvSpPr>
        <p:spPr>
          <a:xfrm>
            <a:off x="6300216" y="3127248"/>
            <a:ext cx="2514600" cy="1371600"/>
          </a:xfrm>
          <a:prstGeom prst="rect">
            <a:avLst/>
          </a:prstGeom>
          <a:noFill/>
          <a:ln/>
        </p:spPr>
        <p:txBody>
          <a:bodyPr wrap="square" rtlCol="0" anchor="ctr"/>
          <a:lstStyle/>
          <a:p>
            <a:pPr marL="0" indent="0" algn="ctr">
              <a:buNone/>
            </a:pPr>
            <a:endParaRPr lang="en-US" sz="1050" dirty="0"/>
          </a:p>
        </p:txBody>
      </p:sp>
      <p:pic>
        <p:nvPicPr>
          <p:cNvPr id="26" name="Picture 25">
            <a:extLst>
              <a:ext uri="{FF2B5EF4-FFF2-40B4-BE49-F238E27FC236}">
                <a16:creationId xmlns:a16="http://schemas.microsoft.com/office/drawing/2014/main" id="{D1123CF0-F924-9D11-0339-5B40E7CEE263}"/>
              </a:ext>
            </a:extLst>
          </p:cNvPr>
          <p:cNvPicPr>
            <a:picLocks noChangeAspect="1"/>
          </p:cNvPicPr>
          <p:nvPr/>
        </p:nvPicPr>
        <p:blipFill>
          <a:blip r:embed="rId3"/>
          <a:stretch>
            <a:fillRect/>
          </a:stretch>
        </p:blipFill>
        <p:spPr>
          <a:xfrm>
            <a:off x="247828" y="1741932"/>
            <a:ext cx="2809655" cy="1289304"/>
          </a:xfrm>
          <a:prstGeom prst="rect">
            <a:avLst/>
          </a:prstGeom>
        </p:spPr>
      </p:pic>
      <p:pic>
        <p:nvPicPr>
          <p:cNvPr id="23" name="Picture 22">
            <a:extLst>
              <a:ext uri="{FF2B5EF4-FFF2-40B4-BE49-F238E27FC236}">
                <a16:creationId xmlns:a16="http://schemas.microsoft.com/office/drawing/2014/main" id="{B6832C16-972F-FAE8-4095-48553345ECF8}"/>
              </a:ext>
            </a:extLst>
          </p:cNvPr>
          <p:cNvPicPr>
            <a:picLocks noChangeAspect="1"/>
          </p:cNvPicPr>
          <p:nvPr/>
        </p:nvPicPr>
        <p:blipFill>
          <a:blip r:embed="rId4"/>
          <a:stretch>
            <a:fillRect/>
          </a:stretch>
        </p:blipFill>
        <p:spPr>
          <a:xfrm>
            <a:off x="3194643" y="1610883"/>
            <a:ext cx="2788920" cy="1624554"/>
          </a:xfrm>
          <a:prstGeom prst="rect">
            <a:avLst/>
          </a:prstGeom>
        </p:spPr>
      </p:pic>
      <p:pic>
        <p:nvPicPr>
          <p:cNvPr id="25" name="Picture 24">
            <a:extLst>
              <a:ext uri="{FF2B5EF4-FFF2-40B4-BE49-F238E27FC236}">
                <a16:creationId xmlns:a16="http://schemas.microsoft.com/office/drawing/2014/main" id="{8BC0F0A7-8FC3-597B-9920-4FC2057203C3}"/>
              </a:ext>
            </a:extLst>
          </p:cNvPr>
          <p:cNvPicPr>
            <a:picLocks noChangeAspect="1"/>
          </p:cNvPicPr>
          <p:nvPr/>
        </p:nvPicPr>
        <p:blipFill>
          <a:blip r:embed="rId5"/>
          <a:stretch>
            <a:fillRect/>
          </a:stretch>
        </p:blipFill>
        <p:spPr>
          <a:xfrm>
            <a:off x="6114966" y="1636776"/>
            <a:ext cx="2831862" cy="14635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Video of Project Demo</a:t>
            </a:r>
            <a:endParaRPr lang="en-US" sz="2200"/>
          </a:p>
        </p:txBody>
      </p:sp>
      <p:sp>
        <p:nvSpPr>
          <p:cNvPr id="5" name="Shape 3"/>
          <p:cNvSpPr/>
          <p:nvPr/>
        </p:nvSpPr>
        <p:spPr>
          <a:xfrm>
            <a:off x="0" y="4983480"/>
            <a:ext cx="9144000" cy="160020"/>
          </a:xfrm>
          <a:prstGeom prst="rect">
            <a:avLst/>
          </a:prstGeom>
          <a:solidFill>
            <a:srgbClr val="1B3A8A"/>
          </a:solidFill>
          <a:ln/>
        </p:spPr>
        <p:txBody>
          <a:bodyPr/>
          <a:lstStyle/>
          <a:p>
            <a:endParaRPr lang="en-IN"/>
          </a:p>
        </p:txBody>
      </p:sp>
      <p:sp>
        <p:nvSpPr>
          <p:cNvPr id="6" name="Shape 4"/>
          <p:cNvSpPr/>
          <p:nvPr/>
        </p:nvSpPr>
        <p:spPr>
          <a:xfrm>
            <a:off x="36576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endParaRPr lang="en-IN"/>
          </a:p>
        </p:txBody>
      </p:sp>
      <p:sp>
        <p:nvSpPr>
          <p:cNvPr id="12" name="Text 10"/>
          <p:cNvSpPr/>
          <p:nvPr/>
        </p:nvSpPr>
        <p:spPr>
          <a:xfrm>
            <a:off x="1389888" y="768096"/>
            <a:ext cx="7022592" cy="786384"/>
          </a:xfrm>
          <a:prstGeom prst="rect">
            <a:avLst/>
          </a:prstGeom>
          <a:noFill/>
          <a:ln/>
        </p:spPr>
        <p:txBody>
          <a:bodyPr wrap="square" rtlCol="0" anchor="ctr"/>
          <a:lstStyle/>
          <a:p>
            <a:r>
              <a:rPr lang="en-IN" sz="1400" u="sng" dirty="0">
                <a:hlinkClick r:id="rId3"/>
              </a:rPr>
              <a:t>https://drive.google.com/file/d/1hVa6s_7a4nLf5VAXvBw8Gg3SSsFTqyil/view?usp=drive_link</a:t>
            </a:r>
            <a:endParaRPr lang="en-US" sz="14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a:solidFill>
                  <a:srgbClr val="FFFFFF"/>
                </a:solidFill>
              </a:rPr>
              <a:t>▶</a:t>
            </a:r>
            <a:endParaRPr lang="en-US" sz="480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a:solidFill>
                  <a:srgbClr val="607D8B"/>
                </a:solidFill>
                <a:latin typeface="Calibri" pitchFamily="34" charset="0"/>
                <a:ea typeface="Calibri" pitchFamily="34" charset="-122"/>
                <a:cs typeface="Calibri" pitchFamily="34" charset="-120"/>
              </a:rPr>
              <a:t>[Insert your project demo video.</a:t>
            </a:r>
            <a:endParaRPr lang="en-US" sz="1100"/>
          </a:p>
          <a:p>
            <a:pPr marL="0" indent="0" algn="ctr">
              <a:buNone/>
            </a:pPr>
            <a:r>
              <a:rPr lang="en-US" sz="1100" i="1">
                <a:solidFill>
                  <a:srgbClr val="607D8B"/>
                </a:solidFill>
                <a:latin typeface="Calibri" pitchFamily="34" charset="0"/>
                <a:ea typeface="Calibri" pitchFamily="34" charset="-122"/>
                <a:cs typeface="Calibri" pitchFamily="34" charset="-120"/>
              </a:rPr>
              <a:t>You can embed a video your live project.]</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274320" y="53035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Conclusion</a:t>
            </a:r>
            <a:endParaRPr lang="en-US" sz="2200" dirty="0"/>
          </a:p>
        </p:txBody>
      </p:sp>
      <p:sp>
        <p:nvSpPr>
          <p:cNvPr id="5" name="Shape 3"/>
          <p:cNvSpPr/>
          <p:nvPr/>
        </p:nvSpPr>
        <p:spPr>
          <a:xfrm>
            <a:off x="0" y="4983480"/>
            <a:ext cx="9144000" cy="160020"/>
          </a:xfrm>
          <a:prstGeom prst="rect">
            <a:avLst/>
          </a:prstGeom>
          <a:solidFill>
            <a:srgbClr val="1B3A8A"/>
          </a:solidFill>
          <a:ln/>
        </p:spPr>
        <p:txBody>
          <a:bodyPr/>
          <a:lstStyle/>
          <a:p>
            <a:endParaRPr lang="en-IN"/>
          </a:p>
        </p:txBody>
      </p:sp>
      <p:sp>
        <p:nvSpPr>
          <p:cNvPr id="14" name="Text 12"/>
          <p:cNvSpPr/>
          <p:nvPr/>
        </p:nvSpPr>
        <p:spPr>
          <a:xfrm>
            <a:off x="274320" y="1005840"/>
            <a:ext cx="5212080" cy="3703320"/>
          </a:xfrm>
          <a:prstGeom prst="rect">
            <a:avLst/>
          </a:prstGeom>
          <a:noFill/>
          <a:ln/>
        </p:spPr>
        <p:txBody>
          <a:bodyPr wrap="square" rtlCol="0" anchor="t"/>
          <a:lstStyle/>
          <a:p>
            <a:pPr algn="just"/>
            <a:r>
              <a:rPr lang="en-IN" sz="1050" dirty="0"/>
              <a:t>The project successfully developed a unified and cleaned dataset that integrates both </a:t>
            </a:r>
            <a:r>
              <a:rPr lang="en-IN" sz="1050" b="1" dirty="0"/>
              <a:t>teaching parameters</a:t>
            </a:r>
            <a:r>
              <a:rPr lang="en-IN" sz="1050" dirty="0"/>
              <a:t> and </a:t>
            </a:r>
            <a:r>
              <a:rPr lang="en-IN" sz="1050" b="1" dirty="0"/>
              <a:t>service components</a:t>
            </a:r>
            <a:r>
              <a:rPr lang="en-IN" sz="1050" dirty="0"/>
              <a:t> (committee, administrative, project, and mentoring hours)</a:t>
            </a:r>
          </a:p>
          <a:p>
            <a:pPr algn="just"/>
            <a:endParaRPr lang="en-IN" sz="1050" dirty="0"/>
          </a:p>
          <a:p>
            <a:pPr algn="just"/>
            <a:r>
              <a:rPr lang="en-IN" sz="1050" dirty="0"/>
              <a:t>The dashboards highlighted key </a:t>
            </a:r>
            <a:r>
              <a:rPr lang="en-IN" sz="1050" b="1" dirty="0"/>
              <a:t>teaching indicators</a:t>
            </a:r>
            <a:r>
              <a:rPr lang="en-IN" sz="1050" dirty="0"/>
              <a:t> such as average teaching hours, class size, and course load by designation and department, while also identifying faculty members with disproportionately high teaching responsibilities</a:t>
            </a:r>
            <a:r>
              <a:rPr lang="en-IN" dirty="0"/>
              <a:t>. </a:t>
            </a:r>
          </a:p>
          <a:p>
            <a:pPr algn="just"/>
            <a:endParaRPr lang="en-IN" sz="1050" dirty="0"/>
          </a:p>
          <a:p>
            <a:pPr algn="just"/>
            <a:r>
              <a:rPr lang="en-IN" sz="1050" dirty="0"/>
              <a:t>The dashboards captured </a:t>
            </a:r>
            <a:r>
              <a:rPr lang="en-IN" sz="1050" b="1" dirty="0"/>
              <a:t>research and service hours</a:t>
            </a:r>
            <a:r>
              <a:rPr lang="en-IN" sz="1050" dirty="0"/>
              <a:t>, revealing that reducing excessive service commitments can create opportunities to increase research productivity. </a:t>
            </a:r>
          </a:p>
          <a:p>
            <a:pPr algn="just"/>
            <a:r>
              <a:rPr lang="en-IN" sz="1050" dirty="0"/>
              <a:t>The imbalance detection and redistribution modelling offered actionable insights for fairer workload allocation</a:t>
            </a:r>
            <a:r>
              <a:rPr lang="en-IN" dirty="0"/>
              <a:t>.</a:t>
            </a:r>
          </a:p>
          <a:p>
            <a:pPr algn="just"/>
            <a:endParaRPr lang="en-IN" sz="1050" dirty="0"/>
          </a:p>
          <a:p>
            <a:pPr algn="just"/>
            <a:r>
              <a:rPr lang="en-IN" sz="1050" dirty="0"/>
              <a:t>The project further benefited from </a:t>
            </a:r>
            <a:r>
              <a:rPr lang="en-IN" sz="1050" b="1" dirty="0"/>
              <a:t>AI‑assisted insights through Copilot</a:t>
            </a:r>
            <a:r>
              <a:rPr lang="en-IN" sz="1050" dirty="0"/>
              <a:t>, which enriched the analysis with interpretive commentary and practical suggestions.</a:t>
            </a:r>
          </a:p>
          <a:p>
            <a:pPr algn="just"/>
            <a:endParaRPr lang="en-IN" sz="1050" dirty="0"/>
          </a:p>
          <a:p>
            <a:pPr algn="just"/>
            <a:r>
              <a:rPr lang="en-IN" sz="1050" dirty="0"/>
              <a:t>Overall, the project contributes to </a:t>
            </a:r>
            <a:r>
              <a:rPr lang="en-IN" sz="1050" b="1" dirty="0"/>
              <a:t>fair and equitable workload distribution</a:t>
            </a:r>
            <a:r>
              <a:rPr lang="en-IN" sz="1050" dirty="0"/>
              <a:t>, which enhances faculty satisfaction, reduces stress, and strengthens the institution’s research and teaching capacity.</a:t>
            </a:r>
          </a:p>
          <a:p>
            <a:pPr algn="just"/>
            <a:endParaRPr lang="en-IN" sz="1050" dirty="0"/>
          </a:p>
          <a:p>
            <a:pPr algn="just"/>
            <a:r>
              <a:rPr lang="en-IN" sz="1050" dirty="0"/>
              <a:t>All the Objectives of the project  were met</a:t>
            </a:r>
          </a:p>
          <a:p>
            <a:endParaRPr lang="en-IN" dirty="0"/>
          </a:p>
        </p:txBody>
      </p:sp>
      <p:sp>
        <p:nvSpPr>
          <p:cNvPr id="15" name="Shape 13"/>
          <p:cNvSpPr/>
          <p:nvPr/>
        </p:nvSpPr>
        <p:spPr>
          <a:xfrm>
            <a:off x="5669280" y="777240"/>
            <a:ext cx="3108960" cy="3931920"/>
          </a:xfrm>
          <a:prstGeom prst="rect">
            <a:avLst/>
          </a:prstGeom>
          <a:solidFill>
            <a:srgbClr val="F7F9FC"/>
          </a:solidFill>
          <a:ln w="12700">
            <a:solidFill>
              <a:srgbClr val="ECEFF1"/>
            </a:solidFill>
            <a:prstDash val="solid"/>
          </a:ln>
        </p:spPr>
        <p:txBody>
          <a:bodyPr/>
          <a:lstStyle/>
          <a:p>
            <a:endParaRPr lang="en-IN"/>
          </a:p>
        </p:txBody>
      </p:sp>
      <p:sp>
        <p:nvSpPr>
          <p:cNvPr id="16" name="Shape 14"/>
          <p:cNvSpPr/>
          <p:nvPr/>
        </p:nvSpPr>
        <p:spPr>
          <a:xfrm>
            <a:off x="5852160" y="1001268"/>
            <a:ext cx="2834640" cy="2834640"/>
          </a:xfrm>
          <a:prstGeom prst="ellipse">
            <a:avLst/>
          </a:prstGeom>
          <a:solidFill>
            <a:srgbClr val="1B3A8A"/>
          </a:solidFill>
          <a:ln/>
        </p:spPr>
        <p:txBody>
          <a:bodyPr/>
          <a:lstStyle/>
          <a:p>
            <a:endParaRPr lang="en-IN"/>
          </a:p>
        </p:txBody>
      </p:sp>
      <p:sp>
        <p:nvSpPr>
          <p:cNvPr id="17" name="Text 15"/>
          <p:cNvSpPr/>
          <p:nvPr/>
        </p:nvSpPr>
        <p:spPr>
          <a:xfrm>
            <a:off x="5394960" y="1005840"/>
            <a:ext cx="2834640" cy="2194560"/>
          </a:xfrm>
          <a:prstGeom prst="rect">
            <a:avLst/>
          </a:prstGeom>
          <a:noFill/>
          <a:ln/>
        </p:spPr>
        <p:txBody>
          <a:bodyPr wrap="square" rtlCol="0" anchor="ctr"/>
          <a:lstStyle/>
          <a:p>
            <a:pPr marL="0" indent="0" algn="ctr">
              <a:buNone/>
            </a:pPr>
            <a:r>
              <a:rPr lang="en-US" sz="6000">
                <a:solidFill>
                  <a:srgbClr val="000000"/>
                </a:solidFill>
              </a:rPr>
              <a:t>✅</a:t>
            </a:r>
            <a:endParaRPr lang="en-US" sz="6000"/>
          </a:p>
        </p:txBody>
      </p:sp>
      <p:sp>
        <p:nvSpPr>
          <p:cNvPr id="18" name="Shape 16"/>
          <p:cNvSpPr/>
          <p:nvPr/>
        </p:nvSpPr>
        <p:spPr>
          <a:xfrm>
            <a:off x="5760720" y="3502379"/>
            <a:ext cx="3017520" cy="502920"/>
          </a:xfrm>
          <a:prstGeom prst="rect">
            <a:avLst/>
          </a:prstGeom>
          <a:solidFill>
            <a:srgbClr val="1565C0"/>
          </a:solidFill>
          <a:ln/>
        </p:spPr>
        <p:txBody>
          <a:bodyPr/>
          <a:lstStyle/>
          <a:p>
            <a:endParaRPr lang="en-IN"/>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a:solidFill>
                  <a:srgbClr val="FFFFFF"/>
                </a:solidFill>
                <a:latin typeface="Calibri" pitchFamily="34" charset="0"/>
                <a:ea typeface="Calibri" pitchFamily="34" charset="-122"/>
                <a:cs typeface="Calibri" pitchFamily="34" charset="-120"/>
              </a:rPr>
              <a:t>CONCLUSION</a:t>
            </a:r>
            <a:endParaRPr lang="en-US" sz="16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7772400" y="45720"/>
            <a:ext cx="1280160"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a:solidFill>
                  <a:srgbClr val="1B3A8A"/>
                </a:solidFill>
                <a:latin typeface="Calibri" pitchFamily="34" charset="0"/>
                <a:ea typeface="Calibri" pitchFamily="34" charset="-122"/>
                <a:cs typeface="Calibri" pitchFamily="34" charset="-120"/>
              </a:rPr>
              <a:t>Future Scope</a:t>
            </a:r>
            <a:endParaRPr lang="en-US" sz="2200"/>
          </a:p>
        </p:txBody>
      </p:sp>
      <p:sp>
        <p:nvSpPr>
          <p:cNvPr id="14" name="Text 12"/>
          <p:cNvSpPr/>
          <p:nvPr/>
        </p:nvSpPr>
        <p:spPr>
          <a:xfrm>
            <a:off x="182880" y="1179576"/>
            <a:ext cx="6268719" cy="3721382"/>
          </a:xfrm>
          <a:prstGeom prst="rect">
            <a:avLst/>
          </a:prstGeom>
          <a:noFill/>
          <a:ln/>
        </p:spPr>
        <p:txBody>
          <a:bodyPr wrap="square" rtlCol="0" anchor="t"/>
          <a:lstStyle/>
          <a:p>
            <a:pPr lvl="0" algn="just"/>
            <a:r>
              <a:rPr lang="en-IN" dirty="0"/>
              <a:t>Integrate real-time data pipelines using Power Automate or API connections.</a:t>
            </a:r>
          </a:p>
          <a:p>
            <a:pPr lvl="0" algn="just"/>
            <a:r>
              <a:rPr lang="en-IN" dirty="0"/>
              <a:t>Apply machine learning models (e.g., forecasting, anomaly detection) on top of the cleaned dataset.</a:t>
            </a:r>
          </a:p>
          <a:p>
            <a:pPr algn="just"/>
            <a:r>
              <a:rPr lang="en-IN" dirty="0"/>
              <a:t>Build a web-based interface or Power Apps solution for non-technical end users</a:t>
            </a:r>
          </a:p>
          <a:p>
            <a:pPr lvl="0" algn="just"/>
            <a:r>
              <a:rPr lang="en-IN" dirty="0"/>
              <a:t>The incorporation of  normalization models taking the policy guidelines of institutes as input.</a:t>
            </a:r>
          </a:p>
          <a:p>
            <a:pPr lvl="0" algn="just"/>
            <a:r>
              <a:rPr lang="en-IN" dirty="0"/>
              <a:t>To develop a chatbot interface to have a conversational flow assistance to detect imbalances and take actionable insights.</a:t>
            </a:r>
          </a:p>
          <a:p>
            <a:pPr lvl="0" algn="just"/>
            <a:r>
              <a:rPr lang="en-IN" dirty="0"/>
              <a:t>To develop a tool for faculty to check their workload and understand if they are within the limits specified.  </a:t>
            </a:r>
          </a:p>
          <a:p>
            <a:endParaRPr lang="en-US" sz="1300" dirty="0"/>
          </a:p>
        </p:txBody>
      </p:sp>
      <p:sp>
        <p:nvSpPr>
          <p:cNvPr id="15" name="Shape 13"/>
          <p:cNvSpPr/>
          <p:nvPr/>
        </p:nvSpPr>
        <p:spPr>
          <a:xfrm>
            <a:off x="6581421" y="841248"/>
            <a:ext cx="2379699" cy="2029968"/>
          </a:xfrm>
          <a:prstGeom prst="rect">
            <a:avLst/>
          </a:prstGeom>
          <a:solidFill>
            <a:srgbClr val="F7F9FC"/>
          </a:solidFill>
          <a:ln w="12700">
            <a:solidFill>
              <a:srgbClr val="ECEFF1"/>
            </a:solidFill>
            <a:prstDash val="solid"/>
          </a:ln>
        </p:spPr>
        <p:txBody>
          <a:bodyPr/>
          <a:lstStyle/>
          <a:p>
            <a:endParaRPr lang="en-IN"/>
          </a:p>
        </p:txBody>
      </p:sp>
      <p:sp>
        <p:nvSpPr>
          <p:cNvPr id="16" name="Text 14"/>
          <p:cNvSpPr/>
          <p:nvPr/>
        </p:nvSpPr>
        <p:spPr>
          <a:xfrm>
            <a:off x="6908800" y="914400"/>
            <a:ext cx="1869439" cy="1657350"/>
          </a:xfrm>
          <a:prstGeom prst="rect">
            <a:avLst/>
          </a:prstGeom>
          <a:noFill/>
          <a:ln/>
        </p:spPr>
        <p:txBody>
          <a:bodyPr wrap="square" rtlCol="0" anchor="ctr"/>
          <a:lstStyle/>
          <a:p>
            <a:pPr marL="0" indent="0" algn="ctr">
              <a:buNone/>
            </a:pPr>
            <a:r>
              <a:rPr lang="en-US" sz="10000">
                <a:solidFill>
                  <a:srgbClr val="000000"/>
                </a:solidFill>
              </a:rPr>
              <a:t>🧠</a:t>
            </a:r>
            <a:endParaRPr lang="en-US" sz="10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B3A8A"/>
          </a:solidFill>
          <a:ln/>
        </p:spPr>
        <p:txBody>
          <a:bodyPr/>
          <a:lstStyle/>
          <a:p>
            <a:endParaRPr lang="en-IN"/>
          </a:p>
        </p:txBody>
      </p:sp>
      <p:sp>
        <p:nvSpPr>
          <p:cNvPr id="3" name="Text 1"/>
          <p:cNvSpPr/>
          <p:nvPr/>
        </p:nvSpPr>
        <p:spPr>
          <a:xfrm>
            <a:off x="6305973" y="45720"/>
            <a:ext cx="2746587" cy="411480"/>
          </a:xfrm>
          <a:prstGeom prst="rect">
            <a:avLst/>
          </a:prstGeom>
          <a:noFill/>
          <a:ln/>
        </p:spPr>
        <p:txBody>
          <a:bodyPr wrap="square" rtlCol="0" anchor="ctr"/>
          <a:lstStyle/>
          <a:p>
            <a:pPr marL="0" indent="0" algn="r">
              <a:buNone/>
            </a:pPr>
            <a:r>
              <a:rPr lang="en-US" sz="800" b="1">
                <a:solidFill>
                  <a:srgbClr val="4FC3F7"/>
                </a:solidFill>
                <a:latin typeface="Calibri" pitchFamily="34" charset="0"/>
                <a:ea typeface="Calibri" pitchFamily="34" charset="-122"/>
                <a:cs typeface="Calibri" pitchFamily="34" charset="-120"/>
              </a:rPr>
              <a:t>edunet</a:t>
            </a:r>
            <a:endParaRPr lang="en-US" sz="800"/>
          </a:p>
          <a:p>
            <a:pPr marL="0" indent="0" algn="r">
              <a:buNone/>
            </a:pPr>
            <a:r>
              <a:rPr lang="en-US" sz="800" b="1">
                <a:solidFill>
                  <a:srgbClr val="4FC3F7"/>
                </a:solidFill>
                <a:latin typeface="Calibri" pitchFamily="34" charset="0"/>
                <a:ea typeface="Calibri" pitchFamily="34" charset="-122"/>
                <a:cs typeface="Calibri" pitchFamily="34" charset="-120"/>
              </a:rPr>
              <a:t>foundation</a:t>
            </a:r>
            <a:endParaRPr lang="en-US" sz="800"/>
          </a:p>
        </p:txBody>
      </p:sp>
      <p:sp>
        <p:nvSpPr>
          <p:cNvPr id="4" name="Text 2"/>
          <p:cNvSpPr/>
          <p:nvPr/>
        </p:nvSpPr>
        <p:spPr>
          <a:xfrm>
            <a:off x="914400" y="1371600"/>
            <a:ext cx="7315200" cy="1463040"/>
          </a:xfrm>
          <a:prstGeom prst="rect">
            <a:avLst/>
          </a:prstGeom>
          <a:noFill/>
          <a:ln/>
        </p:spPr>
        <p:txBody>
          <a:bodyPr wrap="square" rtlCol="0" anchor="ctr"/>
          <a:lstStyle/>
          <a:p>
            <a:pPr marL="0" indent="0" algn="ctr">
              <a:buNone/>
            </a:pPr>
            <a:r>
              <a:rPr lang="en-US" sz="7200" b="1">
                <a:solidFill>
                  <a:srgbClr val="1B3A8A"/>
                </a:solidFill>
                <a:latin typeface="Calibri" pitchFamily="34" charset="0"/>
                <a:ea typeface="Calibri" pitchFamily="34" charset="-122"/>
                <a:cs typeface="Calibri" pitchFamily="34" charset="-120"/>
              </a:rPr>
              <a:t>Thank You</a:t>
            </a:r>
            <a:endParaRPr lang="en-US" sz="7200"/>
          </a:p>
        </p:txBody>
      </p:sp>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a:solidFill>
                  <a:srgbClr val="1565C0"/>
                </a:solidFill>
                <a:latin typeface="Calibri" pitchFamily="34" charset="0"/>
                <a:ea typeface="Calibri" pitchFamily="34" charset="-122"/>
                <a:cs typeface="Calibri" pitchFamily="34" charset="-120"/>
              </a:rPr>
              <a:t>AICW Fellowship  |  Student Project Presentation 2026</a:t>
            </a:r>
            <a:endParaRPr lang="en-US" sz="1400"/>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a:solidFill>
                  <a:srgbClr val="607D8B"/>
                </a:solidFill>
                <a:latin typeface="Calibri"/>
                <a:ea typeface="Calibri"/>
                <a:cs typeface="Calibri"/>
              </a:rPr>
              <a:t>  LinkedIn  |   Edunet Foundation</a:t>
            </a:r>
            <a:endParaRPr lang="en-US" sz="1100"/>
          </a:p>
        </p:txBody>
      </p:sp>
      <p:sp>
        <p:nvSpPr>
          <p:cNvPr id="7" name="Shape 5"/>
          <p:cNvSpPr/>
          <p:nvPr/>
        </p:nvSpPr>
        <p:spPr>
          <a:xfrm>
            <a:off x="0" y="4983480"/>
            <a:ext cx="9144000" cy="160020"/>
          </a:xfrm>
          <a:prstGeom prst="rect">
            <a:avLst/>
          </a:prstGeom>
          <a:solidFill>
            <a:srgbClr val="1B3A8A"/>
          </a:solidFill>
          <a:ln/>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TotalTime>
  <Words>1344</Words>
  <Application>Microsoft Office PowerPoint</Application>
  <PresentationFormat>On-screen Show (16:9)</PresentationFormat>
  <Paragraphs>155</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Dr. Rama Mokkarala</cp:lastModifiedBy>
  <cp:revision>9</cp:revision>
  <dcterms:created xsi:type="dcterms:W3CDTF">2026-02-18T09:17:23Z</dcterms:created>
  <dcterms:modified xsi:type="dcterms:W3CDTF">2026-04-12T12:39:00Z</dcterms:modified>
</cp:coreProperties>
</file>