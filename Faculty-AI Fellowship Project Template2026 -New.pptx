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AF386-C736-49A4-B28E-4FD774A64872}" v="1" dt="2026-04-20T16:57:29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62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ama Mokkarala" userId="4c375a3b0b3fb16c" providerId="LiveId" clId="{1231A1BB-169C-4ED4-BDD4-522A08B43434}"/>
    <pc:docChg chg="modSld">
      <pc:chgData name="Dr. Rama Mokkarala" userId="4c375a3b0b3fb16c" providerId="LiveId" clId="{1231A1BB-169C-4ED4-BDD4-522A08B43434}" dt="2026-04-20T16:59:54.768" v="589" actId="20577"/>
      <pc:docMkLst>
        <pc:docMk/>
      </pc:docMkLst>
      <pc:sldChg chg="modSp mod">
        <pc:chgData name="Dr. Rama Mokkarala" userId="4c375a3b0b3fb16c" providerId="LiveId" clId="{1231A1BB-169C-4ED4-BDD4-522A08B43434}" dt="2026-04-20T13:45:03.950" v="105" actId="15"/>
        <pc:sldMkLst>
          <pc:docMk/>
          <pc:sldMk cId="0" sldId="258"/>
        </pc:sldMkLst>
        <pc:spChg chg="mod">
          <ac:chgData name="Dr. Rama Mokkarala" userId="4c375a3b0b3fb16c" providerId="LiveId" clId="{1231A1BB-169C-4ED4-BDD4-522A08B43434}" dt="2026-04-20T13:45:03.950" v="105" actId="15"/>
          <ac:spMkLst>
            <pc:docMk/>
            <pc:sldMk cId="0" sldId="258"/>
            <ac:spMk id="7" creationId="{38849028-F25C-7DA0-DE56-0DC142EECABD}"/>
          </ac:spMkLst>
        </pc:spChg>
      </pc:sldChg>
      <pc:sldChg chg="modSp mod">
        <pc:chgData name="Dr. Rama Mokkarala" userId="4c375a3b0b3fb16c" providerId="LiveId" clId="{1231A1BB-169C-4ED4-BDD4-522A08B43434}" dt="2026-04-20T13:47:22.083" v="169" actId="113"/>
        <pc:sldMkLst>
          <pc:docMk/>
          <pc:sldMk cId="0" sldId="259"/>
        </pc:sldMkLst>
        <pc:spChg chg="mod">
          <ac:chgData name="Dr. Rama Mokkarala" userId="4c375a3b0b3fb16c" providerId="LiveId" clId="{1231A1BB-169C-4ED4-BDD4-522A08B43434}" dt="2026-04-20T13:47:22.083" v="169" actId="113"/>
          <ac:spMkLst>
            <pc:docMk/>
            <pc:sldMk cId="0" sldId="259"/>
            <ac:spMk id="6" creationId="{EE76AC24-5CB7-D860-6A01-E6D8ABD38610}"/>
          </ac:spMkLst>
        </pc:spChg>
      </pc:sldChg>
      <pc:sldChg chg="modSp mod">
        <pc:chgData name="Dr. Rama Mokkarala" userId="4c375a3b0b3fb16c" providerId="LiveId" clId="{1231A1BB-169C-4ED4-BDD4-522A08B43434}" dt="2026-04-20T13:49:42.983" v="226" actId="14100"/>
        <pc:sldMkLst>
          <pc:docMk/>
          <pc:sldMk cId="0" sldId="260"/>
        </pc:sldMkLst>
        <pc:spChg chg="mod">
          <ac:chgData name="Dr. Rama Mokkarala" userId="4c375a3b0b3fb16c" providerId="LiveId" clId="{1231A1BB-169C-4ED4-BDD4-522A08B43434}" dt="2026-04-20T13:49:42.983" v="226" actId="14100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3:57:36.408" v="306" actId="20577"/>
        <pc:sldMkLst>
          <pc:docMk/>
          <pc:sldMk cId="0" sldId="261"/>
        </pc:sldMkLst>
        <pc:spChg chg="mod">
          <ac:chgData name="Dr. Rama Mokkarala" userId="4c375a3b0b3fb16c" providerId="LiveId" clId="{1231A1BB-169C-4ED4-BDD4-522A08B43434}" dt="2026-04-20T13:50:59.698" v="231" actId="6549"/>
          <ac:spMkLst>
            <pc:docMk/>
            <pc:sldMk cId="0" sldId="261"/>
            <ac:spMk id="9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3:51:55.886" v="296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3:57:36.408" v="306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4:51:34.756" v="550" actId="6549"/>
        <pc:sldMkLst>
          <pc:docMk/>
          <pc:sldMk cId="0" sldId="262"/>
        </pc:sldMkLst>
        <pc:spChg chg="mod">
          <ac:chgData name="Dr. Rama Mokkarala" userId="4c375a3b0b3fb16c" providerId="LiveId" clId="{1231A1BB-169C-4ED4-BDD4-522A08B43434}" dt="2026-04-20T14:46:51.941" v="438" actId="12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4:49:05.082" v="527" actId="6549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4:51:34.756" v="550" actId="6549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6:58:58.649" v="588" actId="14100"/>
        <pc:sldMkLst>
          <pc:docMk/>
          <pc:sldMk cId="0" sldId="263"/>
        </pc:sldMkLst>
        <pc:spChg chg="mod">
          <ac:chgData name="Dr. Rama Mokkarala" userId="4c375a3b0b3fb16c" providerId="LiveId" clId="{1231A1BB-169C-4ED4-BDD4-522A08B43434}" dt="2026-04-20T16:58:21.906" v="582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7:40.296" v="577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8:24.812" v="583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8:27.229" v="584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8:31.469" v="585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8:36.006" v="586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r. Rama Mokkarala" userId="4c375a3b0b3fb16c" providerId="LiveId" clId="{1231A1BB-169C-4ED4-BDD4-522A08B43434}" dt="2026-04-20T16:58:58.649" v="588" actId="14100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4:55:29.428" v="574" actId="20577"/>
        <pc:sldMkLst>
          <pc:docMk/>
          <pc:sldMk cId="0" sldId="264"/>
        </pc:sldMkLst>
        <pc:spChg chg="mod">
          <ac:chgData name="Dr. Rama Mokkarala" userId="4c375a3b0b3fb16c" providerId="LiveId" clId="{1231A1BB-169C-4ED4-BDD4-522A08B43434}" dt="2026-04-20T14:55:29.428" v="574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4:54:34.301" v="564" actId="5793"/>
        <pc:sldMkLst>
          <pc:docMk/>
          <pc:sldMk cId="0" sldId="265"/>
        </pc:sldMkLst>
        <pc:spChg chg="mod">
          <ac:chgData name="Dr. Rama Mokkarala" userId="4c375a3b0b3fb16c" providerId="LiveId" clId="{1231A1BB-169C-4ED4-BDD4-522A08B43434}" dt="2026-04-20T14:54:34.301" v="564" actId="5793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0T16:59:54.768" v="589" actId="20577"/>
        <pc:sldMkLst>
          <pc:docMk/>
          <pc:sldMk cId="121223606" sldId="268"/>
        </pc:sldMkLst>
        <pc:spChg chg="mod">
          <ac:chgData name="Dr. Rama Mokkarala" userId="4c375a3b0b3fb16c" providerId="LiveId" clId="{1231A1BB-169C-4ED4-BDD4-522A08B43434}" dt="2026-04-20T16:59:54.768" v="589" actId="20577"/>
          <ac:spMkLst>
            <pc:docMk/>
            <pc:sldMk cId="121223606" sldId="268"/>
            <ac:spMk id="68" creationId="{A541DFB6-306C-CD3E-24BD-6D7131F87B73}"/>
          </ac:spMkLst>
        </pc:spChg>
        <pc:grpChg chg="mod">
          <ac:chgData name="Dr. Rama Mokkarala" userId="4c375a3b0b3fb16c" providerId="LiveId" clId="{1231A1BB-169C-4ED4-BDD4-522A08B43434}" dt="2026-04-20T13:34:19.356" v="39" actId="1076"/>
          <ac:grpSpMkLst>
            <pc:docMk/>
            <pc:sldMk cId="121223606" sldId="268"/>
            <ac:grpSpMk id="66" creationId="{658A7A12-122B-4A3C-11D3-C4D8BF732077}"/>
          </ac:grpSpMkLst>
        </pc:grpChg>
        <pc:picChg chg="mod">
          <ac:chgData name="Dr. Rama Mokkarala" userId="4c375a3b0b3fb16c" providerId="LiveId" clId="{1231A1BB-169C-4ED4-BDD4-522A08B43434}" dt="2026-04-20T13:34:13.119" v="38" actId="1076"/>
          <ac:picMkLst>
            <pc:docMk/>
            <pc:sldMk cId="121223606" sldId="268"/>
            <ac:picMk id="71" creationId="{4094A52A-31D4-B030-C8BD-9B0ACB0083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66BF-B9F5-9450-6B8E-27899FBB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15776-44D0-CE51-F604-18B892D25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A1032-A949-F583-B8B2-535C0BFF5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3F48F-0FCE-F226-86D0-1B26CC6F5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5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4628886" y="4296187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4483042" y="4481153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 Rama Mokkarala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193134" y="421505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628833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2566486" y="4461904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Chrama.24@gmail.com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141340" y="42356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690292" y="4327017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Ms.Uma</a:t>
              </a:r>
              <a:r>
                <a:rPr lang="en-US" sz="1200" b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252130" y="4337076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848432"/>
              </p:ext>
            </p:extLst>
          </p:nvPr>
        </p:nvGraphicFramePr>
        <p:xfrm>
          <a:off x="4663" y="3463064"/>
          <a:ext cx="4936267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6267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/>
                        <a:t>FacultyBalance</a:t>
                      </a:r>
                      <a:r>
                        <a:rPr lang="en-IN" sz="1400" b="1" dirty="0"/>
                        <a:t>-AI Assisted Faculty Time Allocation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240" y="4496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847986"/>
            <a:ext cx="64619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Develops a unified dataset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Quantifies Imbalances &amp; Proposes redistribution strategies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&amp; Technologies: 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+ Power BI + Copilot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Expected outcomes :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Unified and cleaned Dataset.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 interactive Dashboard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Highlights: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Comprehensive workload summaries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Fairer workload allocation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strengthen departmental research capacity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587192" y="1082801"/>
            <a:ext cx="2431568" cy="2893007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723" y="1185297"/>
            <a:ext cx="3151277" cy="277290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391830"/>
            <a:ext cx="8229600" cy="42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956676"/>
            <a:ext cx="5867482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Core </a:t>
            </a:r>
            <a:r>
              <a:rPr lang="en-US" b="1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roblem</a:t>
            </a: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IN" dirty="0"/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Institutions lack a unified and data-driven mechanism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Significance of the problem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Administrative decisions taken increase the risk of burnout, inefficiency, and suboptimal academic outcomes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Faculty Members of Higher Education Institutions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Web Based Models &amp; lack of AI assisted  Models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Scope &amp; Boundaries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Real Time Data collection, data cleaning, visualization, report generation, and AI assisted insights.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725532"/>
            <a:ext cx="3931920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0" y="362318"/>
            <a:ext cx="8229600" cy="36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725531"/>
            <a:ext cx="5182238" cy="4203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develop a unified dataset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Teaching Hours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 Research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Administrative responsibilities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design an interactive Power BI dashboard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Visualizes workload distribution at individual &amp; departmental levels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Provides Teaching KPIS, Service Hours KPIs and Balance KPIs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integrate AI and generate workload summaries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Tools: Excel, Power Query Editor, Power BI, Copilot</a:t>
            </a:r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616E-5938-DA6C-89FF-A601B648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43555E-5492-E556-12BC-B1BA7356C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725532"/>
            <a:ext cx="3931920" cy="4203183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9681AD4-D578-85C9-9AC6-22AFDEDC0C04}"/>
              </a:ext>
            </a:extLst>
          </p:cNvPr>
          <p:cNvSpPr/>
          <p:nvPr/>
        </p:nvSpPr>
        <p:spPr>
          <a:xfrm>
            <a:off x="0" y="362318"/>
            <a:ext cx="8229600" cy="36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Key Advantages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AABF60-9115-A216-E098-0FCD2F2289B0}"/>
              </a:ext>
            </a:extLst>
          </p:cNvPr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8957FC93-E49B-42C1-444D-CD067F3BDC4A}"/>
              </a:ext>
            </a:extLst>
          </p:cNvPr>
          <p:cNvSpPr/>
          <p:nvPr/>
        </p:nvSpPr>
        <p:spPr>
          <a:xfrm>
            <a:off x="125486" y="725532"/>
            <a:ext cx="5182238" cy="4055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F8988-1F1C-1564-AA85-A8B514603B04}"/>
              </a:ext>
            </a:extLst>
          </p:cNvPr>
          <p:cNvSpPr txBox="1"/>
          <p:nvPr/>
        </p:nvSpPr>
        <p:spPr>
          <a:xfrm>
            <a:off x="199697" y="1051034"/>
            <a:ext cx="5728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Comprehensive Workload Visibility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Redistribution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</a:rPr>
              <a:t>Leverages AI tools like Copilot to accelerate analysis and reduce human error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Research Time Allocation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Imbalance Detection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Morale </a:t>
            </a:r>
            <a:endParaRPr lang="en-IN" dirty="0"/>
          </a:p>
          <a:p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992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2528" y="39284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528" y="834737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834737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248" y="8461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248" y="1255361"/>
            <a:ext cx="4251960" cy="16337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 Excel Dataset with 109 rows and 25 columns </a:t>
            </a:r>
          </a:p>
          <a:p>
            <a:pPr lvl="0" algn="just"/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sources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Departmental workload documents and timetables </a:t>
            </a:r>
          </a:p>
          <a:p>
            <a:pPr lvl="0"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IQAC committee allocation sheet</a:t>
            </a:r>
          </a:p>
        </p:txBody>
      </p:sp>
      <p:sp>
        <p:nvSpPr>
          <p:cNvPr id="10" name="Shape 8"/>
          <p:cNvSpPr/>
          <p:nvPr/>
        </p:nvSpPr>
        <p:spPr>
          <a:xfrm>
            <a:off x="4624528" y="845455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39328" y="859152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15968" y="871313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70248" y="1208068"/>
            <a:ext cx="4473752" cy="1681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600" dirty="0"/>
              <a:t> </a:t>
            </a: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 Query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normalize text and numeric formats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 Business rules 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Computed derived fields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Power BI for dashboard development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353903"/>
            <a:ext cx="4023360" cy="1564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used for Data input and cleaning using Power query editor.</a:t>
            </a:r>
          </a:p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 BI to develop visualizations Dashboard </a:t>
            </a:r>
          </a:p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Copilot was used to generate insightful summaries for actionable insights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 -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Departmental KPIS, 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Teaching KPI, Research 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Admin KPIs and Balance KPIS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445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73664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" y="2389996"/>
            <a:ext cx="2976372" cy="2474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 b="1" dirty="0"/>
              <a:t>Teaching KPIs: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Department‑wise teaching load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New course allocations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Class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Teaching Hours by Experience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High‑load faculty Visualized</a:t>
            </a:r>
          </a:p>
        </p:txBody>
      </p:sp>
      <p:sp>
        <p:nvSpPr>
          <p:cNvPr id="14" name="Shape 12"/>
          <p:cNvSpPr/>
          <p:nvPr/>
        </p:nvSpPr>
        <p:spPr>
          <a:xfrm>
            <a:off x="3218688" y="2681243"/>
            <a:ext cx="2788920" cy="2167394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15979" y="2812771"/>
            <a:ext cx="3037933" cy="2290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Research hours shown categorically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Median and total service hours. Administrative loads are categorized by experience,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clear view of balance and alignment with institutional norms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501461"/>
            <a:ext cx="2788920" cy="2469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Department wise averages of Research, Service &amp; Administrative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Highlighting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AI generated insights guiding fair reallocation and improved research time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702319"/>
            <a:ext cx="2514600" cy="1589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5A63C0-3B56-7A4A-95B2-BECF33527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1100692"/>
            <a:ext cx="2809655" cy="12893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891687-C769-535B-51DD-A2559A6C4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2092" y="1077765"/>
            <a:ext cx="2788920" cy="1624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A28240-A98C-8356-1FEF-97A49D805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037909"/>
            <a:ext cx="2831862" cy="14635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4593" y="515007"/>
            <a:ext cx="8683647" cy="4148433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6629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8308" y="603504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2665" y="57150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5715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777240"/>
            <a:ext cx="8412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26615" y="754380"/>
            <a:ext cx="8348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https://drive.google.com/file/d/1NbMxvTWPDAGRVnNG-6_xxWixgY8ucYGF/view?usp=drive_link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1822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0" y="774455"/>
            <a:ext cx="6074979" cy="4196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project successfully developed a unified and cleaned dataset that integrates both teaching parameters and service components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dashboard highlighted key Teaching Indicators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dashboard captured Research and Service hours, revealing that reducing excessive service commitments can create opportunities to increase research productivity. 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imbalance detection and redistribution modelling offered actionable insights for fairer workload allocation.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project further benefited from AI‑assisted insights through Copilot, which enriched the analysis with interpretive commentary and practical suggestions.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Overall, the project contributes to fair and equitable workload distribution, which enhances faculty satisfaction, reduces stress, and strengthens the institution’s research and teaching capacity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718213" y="857139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65683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904595"/>
            <a:ext cx="4637939" cy="4004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 real-time data pipelines using Power Automate or API connections.</a:t>
            </a:r>
          </a:p>
          <a:p>
            <a:pPr lvl="0"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 machine learning models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 a web-based interface or Power Apps solution for non-technical end users</a:t>
            </a:r>
          </a:p>
          <a:p>
            <a:pPr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incorporation of  normalization models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develop a chatbot interface to have a conversational flow</a:t>
            </a:r>
          </a:p>
          <a:p>
            <a:pPr lvl="0"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develop a tool for faculty to check their workload and understand if they are within the limits specified.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115" y="1052473"/>
            <a:ext cx="4281885" cy="32114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705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Dr. Rama Mokkarala</cp:lastModifiedBy>
  <cp:revision>51</cp:revision>
  <dcterms:created xsi:type="dcterms:W3CDTF">2026-02-18T09:17:23Z</dcterms:created>
  <dcterms:modified xsi:type="dcterms:W3CDTF">2026-04-20T17:00:03Z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