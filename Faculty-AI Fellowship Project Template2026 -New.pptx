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68" r:id="rId2"/>
    <p:sldId id="257" r:id="rId3"/>
    <p:sldId id="258" r:id="rId4"/>
    <p:sldId id="259" r:id="rId5"/>
    <p:sldId id="260" r:id="rId6"/>
    <p:sldId id="269" r:id="rId7"/>
    <p:sldId id="261" r:id="rId8"/>
    <p:sldId id="262" r:id="rId9"/>
    <p:sldId id="263" r:id="rId10"/>
    <p:sldId id="264" r:id="rId11"/>
    <p:sldId id="265" r:id="rId12"/>
    <p:sldId id="266" r:id="rId13"/>
  </p:sldIdLst>
  <p:sldSz cx="9144000" cy="5143500" type="screen16x9"/>
  <p:notesSz cx="5143500" cy="9144000"/>
  <p:custDataLst>
    <p:tags r:id="rId15"/>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786" y="204"/>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166BF-B9F5-9450-6B8E-27899FBBC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215776-44D0-CE51-F604-18B892D255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2A1032-A949-F583-B8B2-535C0BFF5F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B3F48F-0FCE-F226-86D0-1B26CC6F55F9}"/>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9209513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hyperlink" Target="https://drive.google.com/file/d/1hVa6s_7a4nLf5VAXvBw8Gg3SSsFTqyil/view?usp=drive_link" TargetMode="Externa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4628886" y="4296187"/>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4483042" y="4481153"/>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Dr Rama Mokkarala</a:t>
            </a: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193134" y="421505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2628833" y="4341881"/>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2566486" y="4461904"/>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Chrama.24@gmail.com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141340" y="4235613"/>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Guide Name</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graphicFrame>
        <p:nvGraphicFramePr>
          <p:cNvPr id="26" name="Table 25">
            <a:extLst>
              <a:ext uri="{FF2B5EF4-FFF2-40B4-BE49-F238E27FC236}">
                <a16:creationId xmlns:a16="http://schemas.microsoft.com/office/drawing/2014/main" id="{C81DED0E-8121-4A62-5E99-A69B8B50AA1B}"/>
              </a:ext>
            </a:extLst>
          </p:cNvPr>
          <p:cNvGraphicFramePr>
            <a:graphicFrameLocks noGrp="1"/>
          </p:cNvGraphicFramePr>
          <p:nvPr>
            <p:extLst>
              <p:ext uri="{D42A27DB-BD31-4B8C-83A1-F6EECF244321}">
                <p14:modId xmlns:p14="http://schemas.microsoft.com/office/powerpoint/2010/main" val="3292848432"/>
              </p:ext>
            </p:extLst>
          </p:nvPr>
        </p:nvGraphicFramePr>
        <p:xfrm>
          <a:off x="4663" y="3463064"/>
          <a:ext cx="4936267" cy="370840"/>
        </p:xfrm>
        <a:graphic>
          <a:graphicData uri="http://schemas.openxmlformats.org/drawingml/2006/table">
            <a:tbl>
              <a:tblPr>
                <a:tableStyleId>{2D5ABB26-0587-4C30-8999-92F81FD0307C}</a:tableStyleId>
              </a:tblPr>
              <a:tblGrid>
                <a:gridCol w="4936267">
                  <a:extLst>
                    <a:ext uri="{9D8B030D-6E8A-4147-A177-3AD203B41FA5}">
                      <a16:colId xmlns:a16="http://schemas.microsoft.com/office/drawing/2014/main" val="3438802165"/>
                    </a:ext>
                  </a:extLst>
                </a:gridCol>
              </a:tblGrid>
              <a:tr h="370840">
                <a:tc>
                  <a:txBody>
                    <a:bodyPr/>
                    <a:lstStyle/>
                    <a:p>
                      <a:pPr algn="ctr"/>
                      <a:r>
                        <a:rPr lang="en-IN" sz="1400" b="1" dirty="0" err="1"/>
                        <a:t>FacultyBalance</a:t>
                      </a:r>
                      <a:r>
                        <a:rPr lang="en-IN" sz="1400" b="1" dirty="0"/>
                        <a:t>-AI Assisted Faculty Time Allocation</a:t>
                      </a:r>
                      <a:endParaRPr lang="en-US" sz="2800" dirty="0"/>
                    </a:p>
                  </a:txBody>
                  <a:tcPr/>
                </a:tc>
                <a:extLst>
                  <a:ext uri="{0D108BD9-81ED-4DB2-BD59-A6C34878D82A}">
                    <a16:rowId xmlns:a16="http://schemas.microsoft.com/office/drawing/2014/main" val="2841395308"/>
                  </a:ext>
                </a:extLst>
              </a:tr>
            </a:tbl>
          </a:graphicData>
        </a:graphic>
      </p:graphicFrame>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5240" y="44960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847986"/>
            <a:ext cx="6461952" cy="4278094"/>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IN" dirty="0">
                <a:latin typeface="Lato" panose="020F0502020204030203" pitchFamily="34" charset="0"/>
                <a:ea typeface="Lato" panose="020F0502020204030203" pitchFamily="34" charset="0"/>
                <a:cs typeface="Lato" panose="020F0502020204030203" pitchFamily="34" charset="0"/>
              </a:rPr>
              <a:t>The current  project develops a unified dataset that consolidates all components of faculty workload, quantifies imbalances at individual and departmental levels, and proposes redistribution strategies to enhance equity and protect research time</a:t>
            </a:r>
            <a:endParaRPr lang="en-US" sz="1800" dirty="0">
              <a:latin typeface="Lato" panose="020F0502020204030203" pitchFamily="34" charset="0"/>
              <a:ea typeface="Lato" panose="020F0502020204030203" pitchFamily="34" charset="0"/>
              <a:cs typeface="Lato" panose="020F0502020204030203"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Lato" panose="020F0502020204030203" pitchFamily="34" charset="0"/>
                <a:cs typeface="Lato" panose="020F0502020204030203" pitchFamily="34" charset="0"/>
              </a:rPr>
              <a:t>Tools &amp; Technologies: </a:t>
            </a:r>
            <a:r>
              <a:rPr lang="en-US" dirty="0">
                <a:solidFill>
                  <a:srgbClr val="1A1A2E"/>
                </a:solidFill>
                <a:latin typeface="Lato" panose="020F0502020204030203" pitchFamily="34" charset="0"/>
                <a:ea typeface="Lato" panose="020F0502020204030203" pitchFamily="34" charset="0"/>
                <a:cs typeface="Lato" panose="020F0502020204030203" pitchFamily="34" charset="0"/>
              </a:rPr>
              <a:t>Excel + Power BI + Copilot</a:t>
            </a:r>
            <a:endParaRPr lang="en-US" sz="1800" dirty="0">
              <a:latin typeface="Lato" panose="020F0502020204030203" pitchFamily="34" charset="0"/>
              <a:ea typeface="Lato" panose="020F0502020204030203" pitchFamily="34" charset="0"/>
              <a:cs typeface="Lato" panose="020F0502020204030203" pitchFamily="34" charset="0"/>
            </a:endParaRPr>
          </a:p>
          <a:p>
            <a:pPr marL="228600" indent="-228600" algn="just">
              <a:spcAft>
                <a:spcPts val="800"/>
              </a:spcAft>
              <a:buFont typeface="Arial" panose="020B0604020202020204" pitchFamily="34" charset="0"/>
              <a:buChar char="•"/>
              <a:tabLst>
                <a:tab pos="4229100" algn="ctr"/>
              </a:tabLst>
            </a:pPr>
            <a:r>
              <a:rPr lang="en-US" sz="1800" dirty="0">
                <a:latin typeface="Lato" panose="020F0502020204030203" pitchFamily="34" charset="0"/>
                <a:ea typeface="Lato" panose="020F0502020204030203" pitchFamily="34" charset="0"/>
                <a:cs typeface="Lato" panose="020F0502020204030203" pitchFamily="34" charset="0"/>
              </a:rPr>
              <a:t>Expected outcomes :</a:t>
            </a:r>
            <a:r>
              <a:rPr lang="en-US" dirty="0">
                <a:latin typeface="Lato" panose="020F0502020204030203" pitchFamily="34" charset="0"/>
                <a:ea typeface="Lato" panose="020F0502020204030203" pitchFamily="34" charset="0"/>
                <a:cs typeface="Lato" panose="020F0502020204030203" pitchFamily="34" charset="0"/>
              </a:rPr>
              <a:t>A Unified and cleaned Dataset. An interactive Dashboard visualizing the distribution at individual and Departmental levels. Identification of imbalances &amp; suggestions for </a:t>
            </a:r>
            <a:r>
              <a:rPr lang="en-IN" dirty="0">
                <a:latin typeface="Lato" panose="020F0502020204030203" pitchFamily="34" charset="0"/>
                <a:ea typeface="Lato" panose="020F0502020204030203" pitchFamily="34" charset="0"/>
                <a:cs typeface="Lato" panose="020F0502020204030203" pitchFamily="34" charset="0"/>
              </a:rPr>
              <a:t>potential redistribution.</a:t>
            </a:r>
            <a:endParaRPr lang="en-US" sz="1800" dirty="0">
              <a:latin typeface="Lato" panose="020F0502020204030203" pitchFamily="34" charset="0"/>
              <a:ea typeface="Lato" panose="020F0502020204030203" pitchFamily="34" charset="0"/>
              <a:cs typeface="Lato" panose="020F0502020204030203" pitchFamily="34" charset="0"/>
            </a:endParaRPr>
          </a:p>
          <a:p>
            <a:pPr marL="228600" indent="-228600" algn="just">
              <a:spcAft>
                <a:spcPts val="800"/>
              </a:spcAft>
              <a:buFont typeface="Arial" panose="020B0604020202020204" pitchFamily="34" charset="0"/>
              <a:buChar char="•"/>
              <a:tabLst>
                <a:tab pos="4229100" algn="ctr"/>
              </a:tabLst>
            </a:pPr>
            <a:r>
              <a:rPr lang="en-US" sz="1800" dirty="0">
                <a:latin typeface="Lato" panose="020F0502020204030203" pitchFamily="34" charset="0"/>
                <a:ea typeface="Lato" panose="020F0502020204030203" pitchFamily="34" charset="0"/>
                <a:cs typeface="Lato" panose="020F0502020204030203" pitchFamily="34" charset="0"/>
              </a:rPr>
              <a:t>Key Highlights: </a:t>
            </a:r>
            <a:r>
              <a:rPr lang="en-IN" sz="1800" dirty="0">
                <a:latin typeface="Lato" panose="020F0502020204030203" pitchFamily="34" charset="0"/>
                <a:ea typeface="Lato" panose="020F0502020204030203" pitchFamily="34" charset="0"/>
                <a:cs typeface="Lato" panose="020F0502020204030203" pitchFamily="34" charset="0"/>
              </a:rPr>
              <a:t>C</a:t>
            </a:r>
            <a:r>
              <a:rPr lang="en-IN" dirty="0">
                <a:latin typeface="Lato" panose="020F0502020204030203" pitchFamily="34" charset="0"/>
                <a:ea typeface="Lato" panose="020F0502020204030203" pitchFamily="34" charset="0"/>
                <a:cs typeface="Lato" panose="020F0502020204030203" pitchFamily="34" charset="0"/>
              </a:rPr>
              <a:t>omprehensive workload summaries that consolidate all teaching and service components.</a:t>
            </a:r>
            <a:r>
              <a:rPr lang="en-IN" dirty="0"/>
              <a:t> fairer workload allocation and strengthen departmental research capacity</a:t>
            </a:r>
            <a:r>
              <a:rPr lang="en-US" dirty="0">
                <a:solidFill>
                  <a:srgbClr val="1A1A2E"/>
                </a:solidFill>
                <a:latin typeface="Calibri" pitchFamily="34" charset="0"/>
                <a:ea typeface="Calibri" pitchFamily="34" charset="-122"/>
                <a:cs typeface="Calibri" pitchFamily="34" charset="-120"/>
              </a:rPr>
              <a:t>.</a:t>
            </a:r>
            <a:endParaRPr lang="en-US" sz="1800" dirty="0">
              <a:latin typeface="Lato" panose="020F0502020204030203" pitchFamily="34" charset="0"/>
              <a:ea typeface="Lato" panose="020F0502020204030203" pitchFamily="34" charset="0"/>
              <a:cs typeface="Lato" panose="020F0502020204030203" pitchFamily="34" charset="0"/>
            </a:endParaRPr>
          </a:p>
        </p:txBody>
      </p:sp>
      <p:sp>
        <p:nvSpPr>
          <p:cNvPr id="2" name="Freeform 28">
            <a:extLst>
              <a:ext uri="{FF2B5EF4-FFF2-40B4-BE49-F238E27FC236}">
                <a16:creationId xmlns:a16="http://schemas.microsoft.com/office/drawing/2014/main" id="{AA7F05EE-340D-A58A-BAD0-FB0660B2D339}"/>
              </a:ext>
            </a:extLst>
          </p:cNvPr>
          <p:cNvSpPr/>
          <p:nvPr/>
        </p:nvSpPr>
        <p:spPr>
          <a:xfrm>
            <a:off x="6587192" y="1082801"/>
            <a:ext cx="2431568" cy="2893007"/>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992723" y="1185297"/>
            <a:ext cx="3151277" cy="2772905"/>
          </a:xfrm>
          <a:prstGeom prst="rect">
            <a:avLst/>
          </a:prstGeom>
        </p:spPr>
      </p:pic>
      <p:sp>
        <p:nvSpPr>
          <p:cNvPr id="4" name="Text 2"/>
          <p:cNvSpPr/>
          <p:nvPr/>
        </p:nvSpPr>
        <p:spPr>
          <a:xfrm>
            <a:off x="120623" y="391830"/>
            <a:ext cx="8229600" cy="429803"/>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0623" y="956676"/>
            <a:ext cx="5867482" cy="4103688"/>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US"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Core </a:t>
            </a:r>
            <a:r>
              <a:rPr lang="en-US" dirty="0">
                <a:latin typeface="Lato" panose="020F0502020204030203" pitchFamily="34" charset="0"/>
                <a:ea typeface="Times New Roman" panose="02020603050405020304" pitchFamily="18" charset="0"/>
                <a:cs typeface="Arial" panose="020B0604020202020204" pitchFamily="34" charset="0"/>
              </a:rPr>
              <a:t>P</a:t>
            </a:r>
            <a:r>
              <a:rPr lang="en-US"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roblem:</a:t>
            </a:r>
            <a:r>
              <a:rPr lang="en-IN" dirty="0"/>
              <a:t> </a:t>
            </a:r>
            <a:r>
              <a:rPr lang="en-IN" dirty="0">
                <a:latin typeface="Lato" panose="020F0502020204030203" pitchFamily="34" charset="0"/>
                <a:ea typeface="Lato" panose="020F0502020204030203" pitchFamily="34" charset="0"/>
                <a:cs typeface="Lato" panose="020F0502020204030203" pitchFamily="34" charset="0"/>
              </a:rPr>
              <a:t>Institutions lack a unified and data-driven mechanism to evaluate and balance faculty workload across teaching, research, and administrative responsibilities. </a:t>
            </a:r>
          </a:p>
          <a:p>
            <a:pPr marL="228600" indent="-228600" algn="just">
              <a:spcAft>
                <a:spcPts val="800"/>
              </a:spcAft>
              <a:buFont typeface="Arial" panose="020B0604020202020204" pitchFamily="34" charset="0"/>
              <a:buChar char="•"/>
              <a:tabLst>
                <a:tab pos="4229100" algn="ctr"/>
              </a:tabLst>
            </a:pPr>
            <a:r>
              <a:rPr lang="en-IN" dirty="0">
                <a:latin typeface="Lato" panose="020F0502020204030203" pitchFamily="34" charset="0"/>
                <a:ea typeface="Lato" panose="020F0502020204030203" pitchFamily="34" charset="0"/>
                <a:cs typeface="Lato" panose="020F0502020204030203" pitchFamily="34" charset="0"/>
              </a:rPr>
              <a:t>Significance of the problem: Administrative decisions are reactive rather than optimized, increasing the risk of burnout, inefficiency, and suboptimal academic outcomes</a:t>
            </a:r>
            <a:endParaRPr lang="en-US" dirty="0">
              <a:latin typeface="Lato" panose="020F0502020204030203" pitchFamily="34" charset="0"/>
              <a:ea typeface="Lato" panose="020F0502020204030203" pitchFamily="34" charset="0"/>
              <a:cs typeface="Lato" panose="020F0502020204030203" pitchFamily="34" charset="0"/>
            </a:endParaRPr>
          </a:p>
          <a:p>
            <a:pPr marL="228600" indent="-228600">
              <a:spcAft>
                <a:spcPts val="800"/>
              </a:spcAft>
              <a:buFont typeface="Arial" panose="020B0604020202020204" pitchFamily="34" charset="0"/>
              <a:buChar char="•"/>
              <a:tabLst>
                <a:tab pos="4229100" algn="ctr"/>
              </a:tabLst>
            </a:pPr>
            <a:r>
              <a:rPr lang="en-US" dirty="0">
                <a:latin typeface="Lato" panose="020F0502020204030203" pitchFamily="34" charset="0"/>
                <a:ea typeface="+mn-lt"/>
                <a:cs typeface="Arial" panose="020B0604020202020204" pitchFamily="34" charset="0"/>
              </a:rPr>
              <a:t>Faculty Members of Higher Education Institutions</a:t>
            </a:r>
          </a:p>
          <a:p>
            <a:pPr marL="228600" indent="-228600">
              <a:spcAft>
                <a:spcPts val="800"/>
              </a:spcAft>
              <a:buFont typeface="Arial" panose="020B0604020202020204" pitchFamily="34" charset="0"/>
              <a:buChar char="•"/>
              <a:tabLst>
                <a:tab pos="4229100" algn="ctr"/>
              </a:tabLst>
            </a:pPr>
            <a:r>
              <a:rPr lang="en-US" dirty="0">
                <a:latin typeface="Lato" panose="020F0502020204030203" pitchFamily="34" charset="0"/>
                <a:ea typeface="+mn-lt"/>
                <a:cs typeface="Arial" panose="020B0604020202020204" pitchFamily="34" charset="0"/>
              </a:rPr>
              <a:t>Web Based Models &amp; lack of AI assisted  Models</a:t>
            </a:r>
          </a:p>
          <a:p>
            <a:pPr marL="228600" indent="-228600" algn="just">
              <a:spcAft>
                <a:spcPts val="800"/>
              </a:spcAft>
              <a:buFont typeface="Arial" panose="020B0604020202020204" pitchFamily="34" charset="0"/>
              <a:buChar char="•"/>
              <a:tabLst>
                <a:tab pos="4229100" algn="ctr"/>
              </a:tabLst>
            </a:pPr>
            <a:r>
              <a:rPr lang="en-US" dirty="0">
                <a:latin typeface="Lato" panose="020F0502020204030203" pitchFamily="34" charset="0"/>
                <a:ea typeface="+mn-lt"/>
                <a:cs typeface="Arial" panose="020B0604020202020204" pitchFamily="34" charset="0"/>
              </a:rPr>
              <a:t>Scope &amp; Boundaries: </a:t>
            </a:r>
            <a:r>
              <a:rPr lang="en-US" dirty="0">
                <a:latin typeface="Lato" panose="020F0502020204030203" pitchFamily="34" charset="0"/>
                <a:ea typeface="Lato" panose="020F0502020204030203" pitchFamily="34" charset="0"/>
                <a:cs typeface="Lato" panose="020F0502020204030203" pitchFamily="34" charset="0"/>
              </a:rPr>
              <a:t>Unified Real Time Data collection, data cleaning, visualization, report generation, and AI assisted insights.</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5212080" y="725532"/>
            <a:ext cx="3931920" cy="4203183"/>
          </a:xfrm>
          <a:prstGeom prst="rect">
            <a:avLst/>
          </a:prstGeom>
        </p:spPr>
      </p:pic>
      <p:sp>
        <p:nvSpPr>
          <p:cNvPr id="4" name="Text 2"/>
          <p:cNvSpPr/>
          <p:nvPr/>
        </p:nvSpPr>
        <p:spPr>
          <a:xfrm>
            <a:off x="0" y="362318"/>
            <a:ext cx="8229600" cy="363214"/>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725532"/>
            <a:ext cx="5182238" cy="4055650"/>
          </a:xfrm>
          <a:prstGeom prst="rect">
            <a:avLst/>
          </a:prstGeom>
          <a:noFill/>
          <a:ln/>
        </p:spPr>
        <p:txBody>
          <a:bodyPr wrap="square" rtlCol="0" anchor="t"/>
          <a:lstStyle/>
          <a:p>
            <a:pPr marL="171450" lvl="0" indent="-171450">
              <a:buFont typeface="Arial" panose="020B0604020202020204" pitchFamily="34" charset="0"/>
              <a:buChar char="•"/>
            </a:pPr>
            <a:r>
              <a:rPr lang="en-IN" dirty="0"/>
              <a:t>To develop a unified dataset capturing faculty teaching, research, and administrative responsibilities .</a:t>
            </a:r>
          </a:p>
          <a:p>
            <a:pPr marL="171450" lvl="0" indent="-171450">
              <a:buFont typeface="Arial" panose="020B0604020202020204" pitchFamily="34" charset="0"/>
              <a:buChar char="•"/>
            </a:pPr>
            <a:r>
              <a:rPr lang="en-IN" dirty="0"/>
              <a:t>To design an interactive Power BI dashboard that visualizes workload distribution at individual &amp; departmental levels and  provides Teaching KPIS, Service Hours KPIs and Balance KPIs </a:t>
            </a:r>
          </a:p>
          <a:p>
            <a:pPr marL="171450" lvl="0" indent="-171450">
              <a:buFont typeface="Arial" panose="020B0604020202020204" pitchFamily="34" charset="0"/>
              <a:buChar char="•"/>
            </a:pPr>
            <a:r>
              <a:rPr lang="en-IN" dirty="0"/>
              <a:t>To integrate AI and generate workload summaries at individual and departmental levels that can highlight imbalances if any and facilitate predictive modelling</a:t>
            </a:r>
          </a:p>
          <a:p>
            <a:pPr lvl="0"/>
            <a:endParaRPr lang="en-IN" dirty="0"/>
          </a:p>
          <a:p>
            <a:pPr marL="171450" lvl="0" indent="-171450">
              <a:buFont typeface="Arial" panose="020B0604020202020204" pitchFamily="34" charset="0"/>
              <a:buChar char="•"/>
            </a:pPr>
            <a:r>
              <a:rPr lang="en-IN" dirty="0">
                <a:solidFill>
                  <a:srgbClr val="1A1A2E"/>
                </a:solidFill>
                <a:latin typeface="Calibri" pitchFamily="34" charset="0"/>
                <a:ea typeface="Calibri" pitchFamily="34" charset="-122"/>
                <a:cs typeface="Calibri" pitchFamily="34" charset="-120"/>
              </a:rPr>
              <a:t>Methodology &amp; Tools: Excel, Power Query Editor, Power BI, Copilot</a:t>
            </a:r>
            <a:endParaRPr lang="en-US" dirty="0">
              <a:solidFill>
                <a:srgbClr val="1A1A2E"/>
              </a:solidFill>
              <a:latin typeface="Calibri" pitchFamily="34" charset="0"/>
              <a:ea typeface="Calibri" pitchFamily="34" charset="-122"/>
              <a:cs typeface="Calibri" pitchFamily="34" charset="-12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D616E-5938-DA6C-89FF-A601B6484CB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A43555E-5492-E556-12BC-B1BA7356CB7E}"/>
              </a:ext>
            </a:extLst>
          </p:cNvPr>
          <p:cNvPicPr>
            <a:picLocks noChangeAspect="1"/>
          </p:cNvPicPr>
          <p:nvPr/>
        </p:nvPicPr>
        <p:blipFill>
          <a:blip r:embed="rId4"/>
          <a:stretch>
            <a:fillRect/>
          </a:stretch>
        </p:blipFill>
        <p:spPr>
          <a:xfrm>
            <a:off x="5212080" y="725532"/>
            <a:ext cx="3931920" cy="4203183"/>
          </a:xfrm>
          <a:prstGeom prst="rect">
            <a:avLst/>
          </a:prstGeom>
        </p:spPr>
      </p:pic>
      <p:sp>
        <p:nvSpPr>
          <p:cNvPr id="4" name="Text 2">
            <a:extLst>
              <a:ext uri="{FF2B5EF4-FFF2-40B4-BE49-F238E27FC236}">
                <a16:creationId xmlns:a16="http://schemas.microsoft.com/office/drawing/2014/main" id="{D9681AD4-D578-85C9-9AC6-22AFDEDC0C04}"/>
              </a:ext>
            </a:extLst>
          </p:cNvPr>
          <p:cNvSpPr/>
          <p:nvPr/>
        </p:nvSpPr>
        <p:spPr>
          <a:xfrm>
            <a:off x="0" y="362318"/>
            <a:ext cx="8229600" cy="363214"/>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Key Advantages</a:t>
            </a:r>
            <a:endParaRPr lang="en-US" sz="2000" dirty="0">
              <a:latin typeface="Lato" panose="020F0502020204030203" pitchFamily="34" charset="0"/>
              <a:cs typeface="Arial" panose="020B0604020202020204" pitchFamily="34" charset="0"/>
            </a:endParaRPr>
          </a:p>
        </p:txBody>
      </p:sp>
      <p:sp>
        <p:nvSpPr>
          <p:cNvPr id="16" name="Text 14">
            <a:extLst>
              <a:ext uri="{FF2B5EF4-FFF2-40B4-BE49-F238E27FC236}">
                <a16:creationId xmlns:a16="http://schemas.microsoft.com/office/drawing/2014/main" id="{6AAABF60-9115-A216-E098-0FCD2F2289B0}"/>
              </a:ext>
            </a:extLst>
          </p:cNvPr>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a:extLst>
              <a:ext uri="{FF2B5EF4-FFF2-40B4-BE49-F238E27FC236}">
                <a16:creationId xmlns:a16="http://schemas.microsoft.com/office/drawing/2014/main" id="{8957FC93-E49B-42C1-444D-CD067F3BDC4A}"/>
              </a:ext>
            </a:extLst>
          </p:cNvPr>
          <p:cNvSpPr/>
          <p:nvPr/>
        </p:nvSpPr>
        <p:spPr>
          <a:xfrm>
            <a:off x="125486" y="725532"/>
            <a:ext cx="5182238" cy="4055650"/>
          </a:xfrm>
          <a:prstGeom prst="rect">
            <a:avLst/>
          </a:prstGeom>
          <a:noFill/>
          <a:ln/>
        </p:spPr>
        <p:txBody>
          <a:bodyPr wrap="square" rtlCol="0" anchor="t"/>
          <a:lstStyle/>
          <a:p>
            <a:pPr marL="171450" lvl="0" indent="-171450">
              <a:buFont typeface="Arial" panose="020B0604020202020204" pitchFamily="34" charset="0"/>
              <a:buChar char="•"/>
            </a:pPr>
            <a:endParaRPr lang="en-US" dirty="0">
              <a:solidFill>
                <a:srgbClr val="1A1A2E"/>
              </a:solidFill>
              <a:latin typeface="Calibri" pitchFamily="34" charset="0"/>
              <a:ea typeface="Calibri" pitchFamily="34" charset="-122"/>
              <a:cs typeface="Calibri" pitchFamily="34" charset="-120"/>
            </a:endParaRPr>
          </a:p>
        </p:txBody>
      </p:sp>
      <p:sp>
        <p:nvSpPr>
          <p:cNvPr id="2" name="TextBox 1">
            <a:extLst>
              <a:ext uri="{FF2B5EF4-FFF2-40B4-BE49-F238E27FC236}">
                <a16:creationId xmlns:a16="http://schemas.microsoft.com/office/drawing/2014/main" id="{F63F8988-1F1C-1564-AA85-A8B514603B04}"/>
              </a:ext>
            </a:extLst>
          </p:cNvPr>
          <p:cNvSpPr txBox="1"/>
          <p:nvPr/>
        </p:nvSpPr>
        <p:spPr>
          <a:xfrm>
            <a:off x="199697" y="1051034"/>
            <a:ext cx="5728137" cy="2862322"/>
          </a:xfrm>
          <a:prstGeom prst="rect">
            <a:avLst/>
          </a:prstGeom>
          <a:noFill/>
        </p:spPr>
        <p:txBody>
          <a:bodyPr wrap="square" rtlCol="0">
            <a:spAutoFit/>
          </a:bodyPr>
          <a:lstStyle/>
          <a:p>
            <a:pPr marL="285750" indent="-285750">
              <a:buFont typeface="Arial" panose="020B0604020202020204" pitchFamily="34" charset="0"/>
              <a:buChar char="•"/>
            </a:pPr>
            <a:r>
              <a:rPr lang="en-IN" dirty="0"/>
              <a:t>Comprehensive Workload Visibility </a:t>
            </a:r>
          </a:p>
          <a:p>
            <a:pPr marL="285750" lvl="0" indent="-285750">
              <a:buFont typeface="Arial" panose="020B0604020202020204" pitchFamily="34" charset="0"/>
              <a:buChar char="•"/>
              <a:defRPr/>
            </a:pPr>
            <a:r>
              <a:rPr lang="en-US" dirty="0">
                <a:solidFill>
                  <a:srgbClr val="1A1A2E"/>
                </a:solidFill>
                <a:latin typeface="Calibri" pitchFamily="34" charset="0"/>
                <a:ea typeface="Calibri" pitchFamily="34" charset="-122"/>
                <a:cs typeface="Calibri" pitchFamily="34" charset="-120"/>
              </a:rPr>
              <a:t>Enhanced Decision Support </a:t>
            </a:r>
          </a:p>
          <a:p>
            <a:pPr marL="285750" indent="-285750">
              <a:buFont typeface="Arial" panose="020B0604020202020204" pitchFamily="34" charset="0"/>
              <a:buChar char="•"/>
            </a:pPr>
            <a:r>
              <a:rPr lang="en-US" dirty="0">
                <a:solidFill>
                  <a:srgbClr val="1A1A2E"/>
                </a:solidFill>
                <a:latin typeface="Calibri" pitchFamily="34" charset="0"/>
                <a:ea typeface="Calibri" pitchFamily="34" charset="-122"/>
                <a:cs typeface="Calibri" pitchFamily="34" charset="-120"/>
              </a:rPr>
              <a:t>Data Driven Redistribution </a:t>
            </a:r>
            <a:endParaRPr lang="en-IN" dirty="0"/>
          </a:p>
          <a:p>
            <a:pPr marL="285750" indent="-285750">
              <a:buFont typeface="Arial" panose="020B0604020202020204" pitchFamily="34" charset="0"/>
              <a:buChar char="•"/>
            </a:pPr>
            <a:r>
              <a:rPr lang="en-IN" dirty="0">
                <a:solidFill>
                  <a:schemeClr val="dk1"/>
                </a:solidFill>
              </a:rPr>
              <a:t>Leverages AI tools like Copilot to accelerate analysis and reduce human error</a:t>
            </a:r>
            <a:endParaRPr lang="en-IN" dirty="0"/>
          </a:p>
          <a:p>
            <a:pPr marL="285750" indent="-285750">
              <a:buFont typeface="Arial" panose="020B0604020202020204" pitchFamily="34" charset="0"/>
              <a:buChar char="•"/>
            </a:pPr>
            <a:r>
              <a:rPr lang="en-US" dirty="0">
                <a:solidFill>
                  <a:srgbClr val="1A1A2E"/>
                </a:solidFill>
                <a:latin typeface="Calibri" pitchFamily="34" charset="0"/>
                <a:ea typeface="Calibri" pitchFamily="34" charset="-122"/>
                <a:cs typeface="Calibri" pitchFamily="34" charset="-120"/>
              </a:rPr>
              <a:t>Improved Research Time Allocation </a:t>
            </a:r>
            <a:endParaRPr lang="en-IN" dirty="0"/>
          </a:p>
          <a:p>
            <a:pPr marL="285750" indent="-285750">
              <a:buFont typeface="Arial" panose="020B0604020202020204" pitchFamily="34" charset="0"/>
              <a:buChar char="•"/>
            </a:pPr>
            <a:r>
              <a:rPr lang="en-US" dirty="0">
                <a:solidFill>
                  <a:srgbClr val="1A1A2E"/>
                </a:solidFill>
                <a:latin typeface="Calibri" pitchFamily="34" charset="0"/>
                <a:ea typeface="Calibri" pitchFamily="34" charset="-122"/>
                <a:cs typeface="Calibri" pitchFamily="34" charset="-120"/>
              </a:rPr>
              <a:t>Cost-effective</a:t>
            </a:r>
            <a:endParaRPr lang="en-IN" dirty="0"/>
          </a:p>
          <a:p>
            <a:pPr marL="285750" indent="-285750">
              <a:buFont typeface="Arial" panose="020B0604020202020204" pitchFamily="34" charset="0"/>
              <a:buChar char="•"/>
            </a:pPr>
            <a:r>
              <a:rPr lang="en-US" dirty="0">
                <a:solidFill>
                  <a:srgbClr val="1A1A2E"/>
                </a:solidFill>
                <a:latin typeface="Calibri" pitchFamily="34" charset="0"/>
                <a:ea typeface="Calibri" pitchFamily="34" charset="-122"/>
                <a:cs typeface="Calibri" pitchFamily="34" charset="-120"/>
              </a:rPr>
              <a:t>Early Imbalance Detection </a:t>
            </a:r>
            <a:endParaRPr lang="en-IN" dirty="0"/>
          </a:p>
          <a:p>
            <a:pPr marL="285750" indent="-285750">
              <a:buFont typeface="Arial" panose="020B0604020202020204" pitchFamily="34" charset="0"/>
              <a:buChar char="•"/>
            </a:pPr>
            <a:r>
              <a:rPr lang="en-US" dirty="0">
                <a:solidFill>
                  <a:srgbClr val="1A1A2E"/>
                </a:solidFill>
                <a:latin typeface="Calibri" pitchFamily="34" charset="0"/>
                <a:ea typeface="Calibri" pitchFamily="34" charset="-122"/>
                <a:cs typeface="Calibri" pitchFamily="34" charset="-120"/>
              </a:rPr>
              <a:t>Fairness and Morale </a:t>
            </a:r>
            <a:endParaRPr lang="en-IN" dirty="0"/>
          </a:p>
          <a:p>
            <a:endParaRPr lang="en-IN" dirty="0"/>
          </a:p>
        </p:txBody>
      </p:sp>
    </p:spTree>
    <p:custDataLst>
      <p:tags r:id="rId1"/>
    </p:custDataLst>
    <p:extLst>
      <p:ext uri="{BB962C8B-B14F-4D97-AF65-F5344CB8AC3E}">
        <p14:creationId xmlns:p14="http://schemas.microsoft.com/office/powerpoint/2010/main" val="1839924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2528" y="39284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52528" y="834737"/>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834737"/>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98248" y="84615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98248" y="1255361"/>
            <a:ext cx="4251960" cy="1633759"/>
          </a:xfrm>
          <a:prstGeom prst="rect">
            <a:avLst/>
          </a:prstGeom>
          <a:noFill/>
          <a:ln/>
        </p:spPr>
        <p:txBody>
          <a:bodyPr wrap="square" rtlCol="0" anchor="t"/>
          <a:lstStyle/>
          <a:p>
            <a:pPr lvl="0" algn="just"/>
            <a:r>
              <a:rPr lang="en-IN" sz="1600" dirty="0">
                <a:latin typeface="Lato" panose="020F0502020204030203" pitchFamily="34" charset="0"/>
                <a:ea typeface="Lato" panose="020F0502020204030203" pitchFamily="34" charset="0"/>
                <a:cs typeface="Lato" panose="020F0502020204030203" pitchFamily="34" charset="0"/>
              </a:rPr>
              <a:t>Real Excel Dataset with 109 rows and 25 columns capturing faculty from 6 different Departments </a:t>
            </a:r>
            <a:r>
              <a:rPr lang="en-IN" sz="1600" b="1" dirty="0">
                <a:latin typeface="Lato" panose="020F0502020204030203" pitchFamily="34" charset="0"/>
                <a:ea typeface="Lato" panose="020F0502020204030203" pitchFamily="34" charset="0"/>
                <a:cs typeface="Lato" panose="020F0502020204030203" pitchFamily="34" charset="0"/>
              </a:rPr>
              <a:t>Primary sources</a:t>
            </a:r>
            <a:r>
              <a:rPr lang="en-IN" sz="1600" dirty="0">
                <a:latin typeface="Lato" panose="020F0502020204030203" pitchFamily="34" charset="0"/>
                <a:ea typeface="Lato" panose="020F0502020204030203" pitchFamily="34" charset="0"/>
                <a:cs typeface="Lato" panose="020F0502020204030203" pitchFamily="34" charset="0"/>
              </a:rPr>
              <a:t>: Departmental workload documents and timetables submitted by HODs; IQAC committee allocation sheet; manual data entry for non‑digital inputs.</a:t>
            </a:r>
          </a:p>
        </p:txBody>
      </p:sp>
      <p:sp>
        <p:nvSpPr>
          <p:cNvPr id="10" name="Shape 8"/>
          <p:cNvSpPr/>
          <p:nvPr/>
        </p:nvSpPr>
        <p:spPr>
          <a:xfrm>
            <a:off x="4624528" y="845455"/>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739328" y="859152"/>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15968" y="871313"/>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670248" y="1208068"/>
            <a:ext cx="4473752" cy="1681052"/>
          </a:xfrm>
          <a:prstGeom prst="rect">
            <a:avLst/>
          </a:prstGeom>
          <a:noFill/>
          <a:ln/>
        </p:spPr>
        <p:txBody>
          <a:bodyPr wrap="square" rtlCol="0" anchor="t"/>
          <a:lstStyle/>
          <a:p>
            <a:pPr algn="just"/>
            <a:r>
              <a:rPr lang="en-IN" sz="1600" dirty="0"/>
              <a:t> </a:t>
            </a:r>
            <a:r>
              <a:rPr lang="en-IN" sz="1600" b="1" dirty="0">
                <a:latin typeface="Lato" panose="020F0502020204030203" pitchFamily="34" charset="0"/>
                <a:ea typeface="Lato" panose="020F0502020204030203" pitchFamily="34" charset="0"/>
                <a:cs typeface="Lato" panose="020F0502020204030203" pitchFamily="34" charset="0"/>
              </a:rPr>
              <a:t>Power Query</a:t>
            </a:r>
            <a:r>
              <a:rPr lang="en-IN" sz="1600" dirty="0">
                <a:latin typeface="Lato" panose="020F0502020204030203" pitchFamily="34" charset="0"/>
                <a:ea typeface="Lato" panose="020F0502020204030203" pitchFamily="34" charset="0"/>
                <a:cs typeface="Lato" panose="020F0502020204030203" pitchFamily="34" charset="0"/>
              </a:rPr>
              <a:t> to normalize text and numeric formats,  deduplicate records, and harmonize field names &amp; replace null values</a:t>
            </a:r>
          </a:p>
          <a:p>
            <a:pPr algn="just"/>
            <a:r>
              <a:rPr lang="en-IN" sz="1600" dirty="0">
                <a:latin typeface="Lato" panose="020F0502020204030203" pitchFamily="34" charset="0"/>
                <a:ea typeface="Lato" panose="020F0502020204030203" pitchFamily="34" charset="0"/>
                <a:cs typeface="Lato" panose="020F0502020204030203" pitchFamily="34" charset="0"/>
              </a:rPr>
              <a:t>Apply Business rules ; Computed derived fields: TSH, TH, EL ,Course Load Flag ,</a:t>
            </a:r>
            <a:r>
              <a:rPr lang="en-IN" sz="1600" dirty="0" err="1">
                <a:latin typeface="Lato" panose="020F0502020204030203" pitchFamily="34" charset="0"/>
                <a:ea typeface="Lato" panose="020F0502020204030203" pitchFamily="34" charset="0"/>
                <a:cs typeface="Lato" panose="020F0502020204030203" pitchFamily="34" charset="0"/>
              </a:rPr>
              <a:t>Check_Total</a:t>
            </a:r>
            <a:r>
              <a:rPr lang="en-IN" sz="1600" dirty="0">
                <a:latin typeface="Lato" panose="020F0502020204030203" pitchFamily="34" charset="0"/>
                <a:ea typeface="Lato" panose="020F0502020204030203" pitchFamily="34" charset="0"/>
                <a:cs typeface="Lato" panose="020F0502020204030203" pitchFamily="34" charset="0"/>
              </a:rPr>
              <a:t>, </a:t>
            </a:r>
            <a:r>
              <a:rPr lang="en-IN" sz="1600" dirty="0" err="1">
                <a:latin typeface="Lato" panose="020F0502020204030203" pitchFamily="34" charset="0"/>
                <a:ea typeface="Lato" panose="020F0502020204030203" pitchFamily="34" charset="0"/>
                <a:cs typeface="Lato" panose="020F0502020204030203" pitchFamily="34" charset="0"/>
              </a:rPr>
              <a:t>Error_Flag</a:t>
            </a:r>
            <a:r>
              <a:rPr lang="en-IN" sz="1600" dirty="0">
                <a:latin typeface="Lato" panose="020F0502020204030203" pitchFamily="34" charset="0"/>
                <a:ea typeface="Lato" panose="020F0502020204030203" pitchFamily="34" charset="0"/>
                <a:cs typeface="Lato" panose="020F0502020204030203" pitchFamily="34" charset="0"/>
              </a:rPr>
              <a:t>. Used Power BI for dashboard development</a:t>
            </a:r>
            <a:endParaRPr lang="en-US" sz="1600" dirty="0">
              <a:latin typeface="Lato" panose="020F0502020204030203" pitchFamily="34" charset="0"/>
              <a:ea typeface="Lato" panose="020F0502020204030203" pitchFamily="34" charset="0"/>
              <a:cs typeface="Lato" panose="020F0502020204030203"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353903"/>
            <a:ext cx="4023360" cy="1564937"/>
          </a:xfrm>
          <a:prstGeom prst="rect">
            <a:avLst/>
          </a:prstGeom>
          <a:noFill/>
          <a:ln/>
        </p:spPr>
        <p:txBody>
          <a:bodyPr wrap="square" rtlCol="0" anchor="t"/>
          <a:lstStyle/>
          <a:p>
            <a:pPr algn="just"/>
            <a:r>
              <a:rPr lang="en-US" sz="1600" dirty="0">
                <a:solidFill>
                  <a:srgbClr val="1A1A2E"/>
                </a:solidFill>
                <a:latin typeface="Lato" panose="020F0502020204030203" pitchFamily="34" charset="0"/>
                <a:ea typeface="Lato" panose="020F0502020204030203" pitchFamily="34" charset="0"/>
                <a:cs typeface="Lato" panose="020F0502020204030203" pitchFamily="34" charset="0"/>
              </a:rPr>
              <a:t>Excel used for Data input and cleaning using Power query editor.</a:t>
            </a:r>
          </a:p>
          <a:p>
            <a:pPr algn="just"/>
            <a:r>
              <a:rPr lang="en-US" sz="1600" dirty="0">
                <a:solidFill>
                  <a:srgbClr val="1A1A2E"/>
                </a:solidFill>
                <a:latin typeface="Lato" panose="020F0502020204030203" pitchFamily="34" charset="0"/>
                <a:ea typeface="Lato" panose="020F0502020204030203" pitchFamily="34" charset="0"/>
                <a:cs typeface="Lato" panose="020F0502020204030203" pitchFamily="34" charset="0"/>
              </a:rPr>
              <a:t>Power BI to develop visualizations Dashboard </a:t>
            </a:r>
          </a:p>
          <a:p>
            <a:pPr algn="just"/>
            <a:r>
              <a:rPr lang="en-US" sz="1600" dirty="0">
                <a:solidFill>
                  <a:srgbClr val="1A1A2E"/>
                </a:solidFill>
                <a:latin typeface="Lato" panose="020F0502020204030203" pitchFamily="34" charset="0"/>
                <a:ea typeface="Lato" panose="020F0502020204030203" pitchFamily="34" charset="0"/>
                <a:cs typeface="Lato" panose="020F0502020204030203" pitchFamily="34" charset="0"/>
              </a:rPr>
              <a:t>Copilot was used to generate insightful summaries for actionable insights</a:t>
            </a:r>
            <a:endParaRPr lang="en-US" sz="1600" dirty="0">
              <a:latin typeface="Lato" panose="020F0502020204030203" pitchFamily="34" charset="0"/>
              <a:ea typeface="Lato" panose="020F0502020204030203" pitchFamily="34" charset="0"/>
              <a:cs typeface="Lato" panose="020F0502020204030203"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pPr algn="just"/>
            <a:r>
              <a:rPr lang="en-US" dirty="0">
                <a:solidFill>
                  <a:srgbClr val="1A1A2E"/>
                </a:solidFill>
                <a:latin typeface="Lato" panose="020F0502020204030203" pitchFamily="34" charset="0"/>
                <a:ea typeface="Lato" panose="020F0502020204030203" pitchFamily="34" charset="0"/>
                <a:cs typeface="Lato" panose="020F0502020204030203" pitchFamily="34" charset="0"/>
              </a:rPr>
              <a:t>Dashboard with Departmental KPIS, Teaching KPI, Research &amp; Admin KPIs and Balance KPIS</a:t>
            </a:r>
            <a:endParaRPr lang="en-US" dirty="0">
              <a:latin typeface="Lato" panose="020F0502020204030203" pitchFamily="34" charset="0"/>
              <a:ea typeface="Lato" panose="020F0502020204030203" pitchFamily="34" charset="0"/>
              <a:cs typeface="Lato" panose="020F0502020204030203" pitchFamily="34" charset="0"/>
            </a:endParaRP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0" y="444569"/>
            <a:ext cx="8229600" cy="320040"/>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0" y="73664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77724" y="2389996"/>
            <a:ext cx="2976372" cy="2474846"/>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pPr algn="just"/>
            <a:r>
              <a:rPr lang="en-US" b="1" dirty="0"/>
              <a:t>Teaching KPIs:</a:t>
            </a:r>
            <a:r>
              <a:rPr lang="en-US" dirty="0"/>
              <a:t> Department‑wise teaching load distribution, new course allocations, and class size are highlighted. High‑load faculty are clearly visualized for quick identification.</a:t>
            </a:r>
          </a:p>
        </p:txBody>
      </p:sp>
      <p:sp>
        <p:nvSpPr>
          <p:cNvPr id="14" name="Shape 12"/>
          <p:cNvSpPr/>
          <p:nvPr/>
        </p:nvSpPr>
        <p:spPr>
          <a:xfrm>
            <a:off x="3218688" y="2681243"/>
            <a:ext cx="2788920" cy="2167394"/>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dirty="0">
              <a:latin typeface="Lato" panose="020F0502020204030203" pitchFamily="34" charset="0"/>
            </a:endParaRPr>
          </a:p>
        </p:txBody>
      </p:sp>
      <p:sp>
        <p:nvSpPr>
          <p:cNvPr id="16" name="Text 14"/>
          <p:cNvSpPr/>
          <p:nvPr/>
        </p:nvSpPr>
        <p:spPr>
          <a:xfrm>
            <a:off x="3115979" y="2812771"/>
            <a:ext cx="3037933" cy="2290795"/>
          </a:xfrm>
          <a:prstGeom prst="rect">
            <a:avLst/>
          </a:prstGeom>
          <a:noFill/>
          <a:ln/>
        </p:spPr>
        <p:txBody>
          <a:bodyPr wrap="square" rtlCol="0" anchor="ctr"/>
          <a:lstStyle/>
          <a:p>
            <a:pPr algn="just"/>
            <a:r>
              <a:rPr lang="en-US" sz="1600" dirty="0"/>
              <a:t>Faculty research hours are shown by experience level and designation, alongside median and total service hours. Administrative loads are categorized by experience, giving a clear view of balance and alignment with institutional norms</a:t>
            </a:r>
          </a:p>
          <a:p>
            <a:pPr marL="0" indent="0">
              <a:buNone/>
            </a:pPr>
            <a:endParaRPr lang="en-US" sz="16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501461"/>
            <a:ext cx="2788920" cy="2469932"/>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pPr algn="just"/>
            <a:r>
              <a:rPr lang="en-US" sz="1600" dirty="0">
                <a:latin typeface="Lato" panose="020F0502020204030203" pitchFamily="34" charset="0"/>
                <a:ea typeface="Lato" panose="020F0502020204030203" pitchFamily="34" charset="0"/>
                <a:cs typeface="Lato" panose="020F0502020204030203" pitchFamily="34" charset="0"/>
              </a:rPr>
              <a:t>Department wise averages of research, service, and administrative hours. Highlighting correlations between low research and high service loads. with AI generated insights from Copilot guiding fair reallocation and improved research time</a:t>
            </a:r>
            <a:endParaRPr lang="en-IN" sz="1600" dirty="0">
              <a:latin typeface="Lato" panose="020F0502020204030203" pitchFamily="34" charset="0"/>
              <a:ea typeface="Lato" panose="020F0502020204030203" pitchFamily="34" charset="0"/>
              <a:cs typeface="Lato" panose="020F0502020204030203" pitchFamily="34" charset="0"/>
            </a:endParaRPr>
          </a:p>
          <a:p>
            <a:pPr algn="just"/>
            <a:endParaRPr lang="en-IN" dirty="0">
              <a:latin typeface="Lato" panose="020F0502020204030203" pitchFamily="34" charset="0"/>
            </a:endParaRPr>
          </a:p>
        </p:txBody>
      </p:sp>
      <p:sp>
        <p:nvSpPr>
          <p:cNvPr id="21" name="Text 19"/>
          <p:cNvSpPr/>
          <p:nvPr/>
        </p:nvSpPr>
        <p:spPr>
          <a:xfrm>
            <a:off x="6300216" y="2702319"/>
            <a:ext cx="2514600" cy="1589119"/>
          </a:xfrm>
          <a:prstGeom prst="rect">
            <a:avLst/>
          </a:prstGeom>
          <a:noFill/>
          <a:ln/>
        </p:spPr>
        <p:txBody>
          <a:bodyPr wrap="square" rtlCol="0" anchor="ctr"/>
          <a:lstStyle/>
          <a:p>
            <a:pPr marL="0" indent="0">
              <a:buNone/>
            </a:pPr>
            <a:endParaRPr lang="en-US" sz="1600"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EF5A63C0-3B56-7A4A-95B2-BECF335274AE}"/>
              </a:ext>
            </a:extLst>
          </p:cNvPr>
          <p:cNvPicPr>
            <a:picLocks noChangeAspect="1"/>
          </p:cNvPicPr>
          <p:nvPr/>
        </p:nvPicPr>
        <p:blipFill>
          <a:blip r:embed="rId4"/>
          <a:stretch>
            <a:fillRect/>
          </a:stretch>
        </p:blipFill>
        <p:spPr>
          <a:xfrm>
            <a:off x="192024" y="1100692"/>
            <a:ext cx="2809655" cy="1289304"/>
          </a:xfrm>
          <a:prstGeom prst="rect">
            <a:avLst/>
          </a:prstGeom>
        </p:spPr>
      </p:pic>
      <p:pic>
        <p:nvPicPr>
          <p:cNvPr id="3" name="Picture 2">
            <a:extLst>
              <a:ext uri="{FF2B5EF4-FFF2-40B4-BE49-F238E27FC236}">
                <a16:creationId xmlns:a16="http://schemas.microsoft.com/office/drawing/2014/main" id="{0C891687-C769-535B-51DD-A2559A6C47BC}"/>
              </a:ext>
            </a:extLst>
          </p:cNvPr>
          <p:cNvPicPr>
            <a:picLocks noChangeAspect="1"/>
          </p:cNvPicPr>
          <p:nvPr/>
        </p:nvPicPr>
        <p:blipFill>
          <a:blip r:embed="rId5"/>
          <a:stretch>
            <a:fillRect/>
          </a:stretch>
        </p:blipFill>
        <p:spPr>
          <a:xfrm>
            <a:off x="3022092" y="1077765"/>
            <a:ext cx="2788920" cy="1624554"/>
          </a:xfrm>
          <a:prstGeom prst="rect">
            <a:avLst/>
          </a:prstGeom>
        </p:spPr>
      </p:pic>
      <p:pic>
        <p:nvPicPr>
          <p:cNvPr id="5" name="Picture 4">
            <a:extLst>
              <a:ext uri="{FF2B5EF4-FFF2-40B4-BE49-F238E27FC236}">
                <a16:creationId xmlns:a16="http://schemas.microsoft.com/office/drawing/2014/main" id="{41A28240-A98C-8356-1FEF-97A49D805CC0}"/>
              </a:ext>
            </a:extLst>
          </p:cNvPr>
          <p:cNvPicPr>
            <a:picLocks noChangeAspect="1"/>
          </p:cNvPicPr>
          <p:nvPr/>
        </p:nvPicPr>
        <p:blipFill>
          <a:blip r:embed="rId6"/>
          <a:stretch>
            <a:fillRect/>
          </a:stretch>
        </p:blipFill>
        <p:spPr>
          <a:xfrm>
            <a:off x="6007608" y="1037909"/>
            <a:ext cx="2831862" cy="1463552"/>
          </a:xfrm>
          <a:prstGeom prst="rect">
            <a:avLst/>
          </a:prstGeom>
        </p:spPr>
      </p:pic>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298448" y="754380"/>
            <a:ext cx="7251192" cy="594360"/>
          </a:xfrm>
          <a:prstGeom prst="rect">
            <a:avLst/>
          </a:prstGeom>
          <a:noFill/>
          <a:ln/>
        </p:spPr>
        <p:txBody>
          <a:bodyPr wrap="square" rtlCol="0" anchor="ctr"/>
          <a:lstStyle/>
          <a:p>
            <a:r>
              <a:rPr lang="en-US" sz="1600" dirty="0">
                <a:solidFill>
                  <a:srgbClr val="607D8B"/>
                </a:solidFill>
                <a:latin typeface="Calibri" pitchFamily="34" charset="0"/>
                <a:ea typeface="Calibri" pitchFamily="34" charset="-122"/>
                <a:cs typeface="Calibri" pitchFamily="34" charset="-120"/>
              </a:rPr>
              <a:t>[</a:t>
            </a:r>
            <a:r>
              <a:rPr lang="en-IN" sz="1600" u="sng" dirty="0">
                <a:hlinkClick r:id="rId4"/>
              </a:rPr>
              <a:t>https://drive.google.com/file/d/1hVa6s_7a4nLf5VAXvBw8Gg3SSsFTqyil/view?usp=drive_link</a:t>
            </a:r>
            <a:endParaRPr lang="en-US" sz="1600" dirty="0"/>
          </a:p>
          <a:p>
            <a:pPr marL="0" indent="0">
              <a:buNone/>
            </a:pP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0" y="41822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0" y="774455"/>
            <a:ext cx="6074979" cy="4196937"/>
          </a:xfrm>
          <a:prstGeom prst="rect">
            <a:avLst/>
          </a:prstGeom>
          <a:noFill/>
          <a:ln/>
        </p:spPr>
        <p:txBody>
          <a:bodyPr wrap="square" rtlCol="0" anchor="t"/>
          <a:lstStyle/>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The project successfully developed a unified and cleaned dataset that integrates both teaching parameters and service components</a:t>
            </a:r>
          </a:p>
          <a:p>
            <a:pPr marL="0" indent="0">
              <a:buNone/>
            </a:pPr>
            <a:endParaRPr lang="en-US" sz="14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The dashboards highlighted key teaching indicators such as average teaching hours, class size, and course load by designation and department, </a:t>
            </a:r>
          </a:p>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The dashboards captured research and service hours, revealing that reducing excessive service commitments can create opportunities to increase research productivity. </a:t>
            </a:r>
          </a:p>
          <a:p>
            <a:pPr marL="0" indent="0">
              <a:buNone/>
            </a:pPr>
            <a:endParaRPr lang="en-US" sz="14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The imbalance detection and redistribution modelling offered actionable insights for fairer workload allocation.</a:t>
            </a:r>
          </a:p>
          <a:p>
            <a:pPr marL="0" indent="0">
              <a:buNone/>
            </a:pPr>
            <a:endParaRPr lang="en-US" sz="14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The project further benefited from AI‑assisted insights through Copilot, which enriched the analysis with interpretive commentary and practical suggestions.</a:t>
            </a:r>
          </a:p>
          <a:p>
            <a:pPr marL="0" indent="0">
              <a:buNone/>
            </a:pPr>
            <a:endParaRPr lang="en-US" sz="14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400" dirty="0">
                <a:solidFill>
                  <a:srgbClr val="1A1A2E"/>
                </a:solidFill>
                <a:latin typeface="Lato" panose="020F0502020204030203" pitchFamily="34" charset="0"/>
                <a:ea typeface="Calibri" pitchFamily="34" charset="-122"/>
                <a:cs typeface="Arial" panose="020B0604020202020204" pitchFamily="34" charset="0"/>
              </a:rPr>
              <a:t>Overall, the project contributes to fair and equitable workload distribution, which enhances faculty satisfaction, reduces stress, and strengthens the institution’s research and teaching capacity</a:t>
            </a:r>
            <a:r>
              <a:rPr lang="en-US" dirty="0">
                <a:solidFill>
                  <a:srgbClr val="1A1A2E"/>
                </a:solidFill>
                <a:latin typeface="Lato" panose="020F0502020204030203" pitchFamily="34" charset="0"/>
                <a:ea typeface="Calibri" pitchFamily="34" charset="-122"/>
                <a:cs typeface="Arial" panose="020B0604020202020204" pitchFamily="34" charset="0"/>
              </a:rPr>
              <a:t>.</a:t>
            </a:r>
          </a:p>
          <a:p>
            <a:pPr marL="0" indent="0">
              <a:buNone/>
            </a:pPr>
            <a:endParaRPr lang="en-US" dirty="0">
              <a:solidFill>
                <a:srgbClr val="1A1A2E"/>
              </a:solidFill>
              <a:latin typeface="Lato" panose="020F0502020204030203" pitchFamily="34" charset="0"/>
              <a:ea typeface="Calibri" pitchFamily="34" charset="-122"/>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5718213" y="857139"/>
            <a:ext cx="3597456" cy="3309355"/>
          </a:xfrm>
          <a:prstGeom prst="rect">
            <a:avLst/>
          </a:prstGeom>
        </p:spPr>
      </p:pic>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0" y="465683"/>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6" y="904595"/>
            <a:ext cx="4637939" cy="4004441"/>
          </a:xfrm>
          <a:prstGeom prst="rect">
            <a:avLst/>
          </a:prstGeom>
          <a:noFill/>
          <a:ln/>
        </p:spPr>
        <p:txBody>
          <a:bodyPr wrap="square" rtlCol="0" anchor="t"/>
          <a:lstStyle/>
          <a:p>
            <a:pPr marL="285750" lvl="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Integrate real-time data pipelines using Power Automate or API connections.</a:t>
            </a:r>
          </a:p>
          <a:p>
            <a:pPr marL="285750" lvl="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Apply machine learning models (e.g., forecasting, anomaly detection) on top of the cleaned dataset.</a:t>
            </a:r>
          </a:p>
          <a:p>
            <a:pPr marL="28575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Build a web-based interface or Power Apps solution for non-technical end users</a:t>
            </a:r>
          </a:p>
          <a:p>
            <a:pPr marL="285750" lvl="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The incorporation of  normalization models taking the policy guidelines of institutes as input.</a:t>
            </a:r>
          </a:p>
          <a:p>
            <a:pPr marL="285750" lvl="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To develop a chatbot interface to have a conversational flow assistance to detect imbalances and take actionable insights.</a:t>
            </a:r>
          </a:p>
          <a:p>
            <a:pPr marL="285750" lvl="0" indent="-285750" algn="just">
              <a:buFont typeface="Arial" panose="020B0604020202020204" pitchFamily="34" charset="0"/>
              <a:buChar char="•"/>
            </a:pPr>
            <a:r>
              <a:rPr lang="en-IN" sz="1600" dirty="0">
                <a:latin typeface="Lato" panose="020F0502020204030203" pitchFamily="34" charset="0"/>
                <a:ea typeface="Lato" panose="020F0502020204030203" pitchFamily="34" charset="0"/>
                <a:cs typeface="Lato" panose="020F0502020204030203" pitchFamily="34" charset="0"/>
              </a:rPr>
              <a:t>To develop a tool for faculty to check their workload and understand if they are within the limits specified.  </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62115" y="1052473"/>
            <a:ext cx="4281885" cy="3211414"/>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TotalTime>
  <Words>921</Words>
  <Application>Microsoft Office PowerPoint</Application>
  <PresentationFormat>On-screen Show (16:9)</PresentationFormat>
  <Paragraphs>98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Dr. Rama Mokkarala</cp:lastModifiedBy>
  <cp:revision>51</cp:revision>
  <dcterms:created xsi:type="dcterms:W3CDTF">2026-02-18T09:17:23Z</dcterms:created>
  <dcterms:modified xsi:type="dcterms:W3CDTF">2026-04-14T14:35:29Z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